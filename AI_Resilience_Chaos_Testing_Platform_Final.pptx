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3" r:id="rId14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875520" y="320040"/>
            <a:ext cx="1463040" cy="1463040"/>
          </a:xfrm>
          <a:prstGeom prst="round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698480" y="1143000"/>
            <a:ext cx="822960" cy="822960"/>
          </a:xfrm>
          <a:prstGeom prst="roundRect">
            <a:avLst/>
          </a:prstGeom>
          <a:solidFill>
            <a:srgbClr val="25D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235440" y="1417320"/>
            <a:ext cx="502920" cy="502920"/>
          </a:xfrm>
          <a:prstGeom prst="round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50292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25D3E8"/>
                </a:solidFill>
                <a:latin typeface="Aptos"/>
              </a:rPr>
              <a:t>AI-DRIVEN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417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Resilience &amp;
Chaos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3063240"/>
            <a:ext cx="7040880" cy="8229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>
                <a:solidFill>
                  <a:srgbClr val="CBD5E1"/>
                </a:solidFill>
                <a:latin typeface="Aptos"/>
              </a:rPr>
              <a:t>Don’t just test when systems work.
Test how they behave when things go wrong.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4251960"/>
            <a:ext cx="914400" cy="347472"/>
          </a:xfrm>
          <a:prstGeom prst="round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270248"/>
            <a:ext cx="9144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55648" y="4251960"/>
            <a:ext cx="1143000" cy="347472"/>
          </a:xfrm>
          <a:prstGeom prst="roundRect">
            <a:avLst/>
          </a:prstGeom>
          <a:solidFill>
            <a:srgbClr val="4C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55648" y="4270248"/>
            <a:ext cx="1143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WireMock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44952" y="4251960"/>
            <a:ext cx="1234440" cy="347472"/>
          </a:xfrm>
          <a:prstGeom prst="round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270248"/>
            <a:ext cx="12344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ITAF-ready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6552" y="4251960"/>
            <a:ext cx="1234440" cy="347472"/>
          </a:xfrm>
          <a:prstGeom prst="roundRect">
            <a:avLst/>
          </a:prstGeom>
          <a:solidFill>
            <a:srgbClr val="7C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4270248"/>
            <a:ext cx="12344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AI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36576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ptos"/>
              </a:rPr>
              <a:t>5-minute PoC demonstration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92840" y="6473952"/>
            <a:ext cx="4114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0D182A"/>
                </a:solidFill>
                <a:latin typeface="Aptos"/>
              </a:rPr>
              <a:t>The problem: happy-path testing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107899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Resilience failures often appear only when a critical dependency misbehaves.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337560" cy="1874519"/>
          </a:xfrm>
          <a:prstGeom prst="roundRect">
            <a:avLst/>
          </a:prstGeom>
          <a:solidFill>
            <a:srgbClr val="E2F7EE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64008" cy="1874519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664207"/>
            <a:ext cx="29718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NORMAL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1984248"/>
            <a:ext cx="29718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System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441448"/>
            <a:ext cx="2971800" cy="795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✓ Dependency available
✓ Expected response
✓ Functional path validated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3337560" cy="1874519"/>
          </a:xfrm>
          <a:prstGeom prst="roundRect">
            <a:avLst/>
          </a:prstGeom>
          <a:solidFill>
            <a:srgbClr val="FDE8E8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508760"/>
            <a:ext cx="64008" cy="1874519"/>
          </a:xfrm>
          <a:prstGeom prst="rect">
            <a:avLst/>
          </a:prstGeom>
          <a:solidFill>
            <a:srgbClr val="E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7" y="1664207"/>
            <a:ext cx="29718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REAL-WORLD FAILURE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7" y="1984248"/>
            <a:ext cx="29718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Dependency fails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2441448"/>
            <a:ext cx="2971800" cy="795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✕ 503 / 500
✕ Slow response
✕ Timeout / rate limit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08760"/>
            <a:ext cx="3337560" cy="1874519"/>
          </a:xfrm>
          <a:prstGeom prst="roundRect">
            <a:avLst/>
          </a:prstGeom>
          <a:solidFill>
            <a:srgbClr val="E2E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508760"/>
            <a:ext cx="64008" cy="1874519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664207"/>
            <a:ext cx="29718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WHAT WE NEED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1984248"/>
            <a:ext cx="29718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8" y="2441448"/>
            <a:ext cx="2971800" cy="795527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→ How does Checkout behave?
→ Does failure stay contained?
→ Does recovery work?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886200"/>
            <a:ext cx="128016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1">
                <a:solidFill>
                  <a:srgbClr val="64748B"/>
                </a:solidFill>
                <a:latin typeface="Aptos"/>
              </a:rPr>
              <a:t>The gap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315968"/>
            <a:ext cx="10698480" cy="7315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Traditional automation proves that the system works.
Resilience testing proves that the system can handle failure.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486400"/>
            <a:ext cx="1508760" cy="347472"/>
          </a:xfrm>
          <a:prstGeom prst="roundRect">
            <a:avLst/>
          </a:prstGeom>
          <a:solidFill>
            <a:srgbClr val="E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504688"/>
            <a:ext cx="15087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Controlled failure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23160" y="5486400"/>
            <a:ext cx="1508760" cy="347472"/>
          </a:xfrm>
          <a:prstGeom prst="round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3160" y="5504688"/>
            <a:ext cx="15087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Observed behavior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0" y="5486400"/>
            <a:ext cx="1508760" cy="347472"/>
          </a:xfrm>
          <a:prstGeom prst="round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5504688"/>
            <a:ext cx="15087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Recovery evidence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92840" y="6473952"/>
            <a:ext cx="4114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0D182A"/>
                </a:solidFill>
                <a:latin typeface="Aptos"/>
              </a:rPr>
              <a:t>Solution: an AI-controlled resilience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107899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One MCP interface orchestrates fault injection, validation, recovery and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2011680" cy="1143000"/>
          </a:xfrm>
          <a:prstGeom prst="roundRect">
            <a:avLst/>
          </a:prstGeom>
          <a:solidFill>
            <a:srgbClr val="E2E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4008" cy="114300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84248"/>
            <a:ext cx="164592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AI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16459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Natural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28800"/>
            <a:ext cx="201168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71800" y="1828800"/>
            <a:ext cx="64008" cy="1143000"/>
          </a:xfrm>
          <a:prstGeom prst="rect">
            <a:avLst/>
          </a:prstGeom>
          <a:solidFill>
            <a:srgbClr val="7C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2968" y="1984248"/>
            <a:ext cx="164592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MCP SERVER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2304288"/>
            <a:ext cx="16459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Tools + Resources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828800"/>
            <a:ext cx="201168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828800"/>
            <a:ext cx="64008" cy="1143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0407" y="1984248"/>
            <a:ext cx="164592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CHAOS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0407" y="2304288"/>
            <a:ext cx="16459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WireMock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26679" y="1828800"/>
            <a:ext cx="201168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26679" y="1828800"/>
            <a:ext cx="64008" cy="1143000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984248"/>
            <a:ext cx="164592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SYSTEM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7848" y="2304288"/>
            <a:ext cx="164592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Checkout → Payment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04120" y="1828800"/>
            <a:ext cx="1463040" cy="1143000"/>
          </a:xfrm>
          <a:prstGeom prst="roundRect">
            <a:avLst/>
          </a:prstGeom>
          <a:solidFill>
            <a:srgbClr val="E2E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20" y="1828800"/>
            <a:ext cx="64008" cy="1143000"/>
          </a:xfrm>
          <a:prstGeom prst="rect">
            <a:avLst/>
          </a:prstGeom>
          <a:solidFill>
            <a:srgbClr val="25D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05288" y="1984248"/>
            <a:ext cx="109728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5288" y="2304288"/>
            <a:ext cx="109728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Dashboard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606040" y="2404872"/>
            <a:ext cx="365760" cy="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983480" y="2404872"/>
            <a:ext cx="365760" cy="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360920" y="2404872"/>
            <a:ext cx="365759" cy="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738360" y="2404872"/>
            <a:ext cx="365760" cy="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77240" y="4069080"/>
            <a:ext cx="1554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069080"/>
            <a:ext cx="64008" cy="73152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" y="4224528"/>
            <a:ext cx="118871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" y="4544568"/>
            <a:ext cx="1188719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Baseline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331720" y="4434840"/>
            <a:ext cx="274320" cy="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606040" y="4069080"/>
            <a:ext cx="1554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06040" y="4069080"/>
            <a:ext cx="64008" cy="73152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07208" y="4224528"/>
            <a:ext cx="118871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07208" y="4544568"/>
            <a:ext cx="1188719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Inject fault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60520" y="4434840"/>
            <a:ext cx="274320" cy="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434840" y="4069080"/>
            <a:ext cx="1554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34840" y="4069080"/>
            <a:ext cx="64008" cy="73152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36007" y="4224528"/>
            <a:ext cx="118871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36007" y="4544568"/>
            <a:ext cx="1188719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Execute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989320" y="4434840"/>
            <a:ext cx="274320" cy="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6263640" y="4069080"/>
            <a:ext cx="1554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63640" y="4069080"/>
            <a:ext cx="64008" cy="73152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64807" y="4224528"/>
            <a:ext cx="118871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64807" y="4544568"/>
            <a:ext cx="1188719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Restore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818119" y="4434840"/>
            <a:ext cx="274321" cy="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8092440" y="4069080"/>
            <a:ext cx="1554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92440" y="4069080"/>
            <a:ext cx="64008" cy="73152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93608" y="4224528"/>
            <a:ext cx="118871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3608" y="4544568"/>
            <a:ext cx="1188719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Recover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646919" y="4434840"/>
            <a:ext cx="274321" cy="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9921240" y="4069080"/>
            <a:ext cx="155448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921240" y="4069080"/>
            <a:ext cx="64008" cy="73152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22408" y="4224528"/>
            <a:ext cx="118871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22408" y="4544568"/>
            <a:ext cx="1188719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Analyze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5349240"/>
            <a:ext cx="201168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Key design principle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5687568"/>
            <a:ext cx="105156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0D182A"/>
                </a:solidFill>
                <a:latin typeface="Aptos"/>
              </a:rPr>
              <a:t>Tools act • Resources inform • Prompts guide • Dashboard visualizes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292840" y="6473952"/>
            <a:ext cx="4114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0D182A"/>
                </a:solidFill>
                <a:latin typeface="Aptos"/>
              </a:rPr>
              <a:t>Live experiment: Payment HTTP 503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107899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The agent turns a natural-language request into a controlled end-to-end resilience test.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931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08760"/>
            <a:ext cx="64008" cy="822960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64207"/>
            <a:ext cx="35661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984248"/>
            <a:ext cx="35661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200 OK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97480" y="2331720"/>
            <a:ext cx="0" cy="22860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2560320"/>
            <a:ext cx="3931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560320"/>
            <a:ext cx="64008" cy="822960"/>
          </a:xfrm>
          <a:prstGeom prst="rect">
            <a:avLst/>
          </a:prstGeom>
          <a:solidFill>
            <a:srgbClr val="E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715768"/>
            <a:ext cx="35661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035808"/>
            <a:ext cx="35661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503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97480" y="3383279"/>
            <a:ext cx="0" cy="22860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1520" y="3611879"/>
            <a:ext cx="3931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611879"/>
            <a:ext cx="64008" cy="82296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3767328"/>
            <a:ext cx="35661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4087368"/>
            <a:ext cx="35661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Mapping removed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97480" y="4434840"/>
            <a:ext cx="0" cy="228600"/>
          </a:xfrm>
          <a:prstGeom prst="line">
            <a:avLst/>
          </a:prstGeom>
          <a:ln w="2286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31520" y="4663440"/>
            <a:ext cx="39319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663440"/>
            <a:ext cx="64008" cy="822960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4818888"/>
            <a:ext cx="35661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5138927"/>
            <a:ext cx="356616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200 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7800" y="1508760"/>
            <a:ext cx="2743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D182A"/>
                </a:solidFill>
                <a:latin typeface="Aptos"/>
              </a:rPr>
              <a:t>Observed evidence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57800" y="1965960"/>
            <a:ext cx="2880360" cy="1005840"/>
          </a:xfrm>
          <a:prstGeom prst="roundRect">
            <a:avLst/>
          </a:prstGeom>
          <a:solidFill>
            <a:srgbClr val="FDE8E8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57800" y="1965960"/>
            <a:ext cx="64008" cy="1005840"/>
          </a:xfrm>
          <a:prstGeom prst="rect">
            <a:avLst/>
          </a:prstGeom>
          <a:solidFill>
            <a:srgbClr val="E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58968" y="2121408"/>
            <a:ext cx="25146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FAILURE RESPONSE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2441448"/>
            <a:ext cx="25146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HTTP 503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58968" y="2898648"/>
            <a:ext cx="2514600" cy="-7315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Checkout surfaced dependency failure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60" y="1965960"/>
            <a:ext cx="2880360" cy="1005840"/>
          </a:xfrm>
          <a:prstGeom prst="roundRect">
            <a:avLst/>
          </a:prstGeom>
          <a:solidFill>
            <a:srgbClr val="E2F7EE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66760" y="1965960"/>
            <a:ext cx="64008" cy="1005840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7928" y="2121408"/>
            <a:ext cx="25146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67928" y="2441448"/>
            <a:ext cx="251460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HTTP 200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2898648"/>
            <a:ext cx="2514600" cy="-73151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Checkout recovered after restore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57800" y="3200400"/>
            <a:ext cx="5989320" cy="1143000"/>
          </a:xfrm>
          <a:prstGeom prst="roundRect">
            <a:avLst/>
          </a:prstGeom>
          <a:solidFill>
            <a:srgbClr val="FFF4D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57800" y="3200400"/>
            <a:ext cx="64008" cy="1143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58968" y="3355848"/>
            <a:ext cx="562355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RESILIENCE FINDING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58968" y="3703320"/>
            <a:ext cx="5623559" cy="4846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Checkout did not mask the Payment outage; no fallback was evidenced in the experiment.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57800" y="4709160"/>
            <a:ext cx="31089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64748B"/>
                </a:solidFill>
                <a:latin typeface="Aptos"/>
              </a:rPr>
              <a:t>This is the important shift: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5047488"/>
            <a:ext cx="5852160" cy="5943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100" b="1">
                <a:solidFill>
                  <a:srgbClr val="0D182A"/>
                </a:solidFill>
                <a:latin typeface="Aptos"/>
              </a:rPr>
              <a:t>The agent reports behavior from evidence — not just pass/fail.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92840" y="6473952"/>
            <a:ext cx="4114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MCP CAPABILITIES COVERED IN THE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107899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Aptos"/>
              </a:rPr>
              <a:t>The PoC demonstrates the complete MCP interaction model — not just tool calling.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246120" cy="3886200"/>
          </a:xfrm>
          <a:prstGeom prst="roundRect">
            <a:avLst/>
          </a:prstGeom>
          <a:solidFill>
            <a:srgbClr val="E2E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3246120" cy="73152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755648"/>
            <a:ext cx="21031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276EF1"/>
                </a:solidFill>
                <a:latin typeface="Aptos"/>
              </a:rPr>
              <a:t>TOOLS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79" y="1719072"/>
            <a:ext cx="685800" cy="347472"/>
          </a:xfrm>
          <a:prstGeom prst="round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79" y="1737360"/>
            <a:ext cx="685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240280"/>
            <a:ext cx="27889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D182A"/>
                </a:solidFill>
                <a:latin typeface="Aptos"/>
              </a:rPr>
              <a:t>Execute resilience actions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2926080"/>
            <a:ext cx="109728" cy="109728"/>
          </a:xfrm>
          <a:prstGeom prst="ellipse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1" y="285292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run_resilience_experiment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3520440"/>
            <a:ext cx="109728" cy="109728"/>
          </a:xfrm>
          <a:prstGeom prst="ellipse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344728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inject_http_503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114800"/>
            <a:ext cx="109728" cy="109728"/>
          </a:xfrm>
          <a:prstGeom prst="ellipse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271" y="404164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inject_latency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4709160"/>
            <a:ext cx="109728" cy="109728"/>
          </a:xfrm>
          <a:prstGeom prst="ellipse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1" y="463600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restore_dependency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87368" y="1508760"/>
            <a:ext cx="3246120" cy="3886200"/>
          </a:xfrm>
          <a:prstGeom prst="roundRect">
            <a:avLst/>
          </a:prstGeom>
          <a:solidFill>
            <a:srgbClr val="E2F7EE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87368" y="1508760"/>
            <a:ext cx="3246120" cy="73152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8536" y="1755648"/>
            <a:ext cx="21031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20B070"/>
                </a:solidFill>
                <a:latin typeface="Aptos"/>
              </a:rPr>
              <a:t>RESOURCES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19088" y="1719072"/>
            <a:ext cx="685800" cy="347472"/>
          </a:xfrm>
          <a:prstGeom prst="round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1737360"/>
            <a:ext cx="685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INFORM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8536" y="2240280"/>
            <a:ext cx="27889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D182A"/>
                </a:solidFill>
                <a:latin typeface="Aptos"/>
              </a:rPr>
              <a:t>Provide live resilience context</a:t>
            </a:r>
          </a:p>
        </p:txBody>
      </p:sp>
      <p:sp>
        <p:nvSpPr>
          <p:cNvPr id="25" name="Oval 24"/>
          <p:cNvSpPr/>
          <p:nvPr/>
        </p:nvSpPr>
        <p:spPr>
          <a:xfrm>
            <a:off x="4315968" y="2926080"/>
            <a:ext cx="109728" cy="109728"/>
          </a:xfrm>
          <a:prstGeom prst="ellipse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79" y="285292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resilience://topology</a:t>
            </a:r>
          </a:p>
        </p:txBody>
      </p:sp>
      <p:sp>
        <p:nvSpPr>
          <p:cNvPr id="27" name="Oval 26"/>
          <p:cNvSpPr/>
          <p:nvPr/>
        </p:nvSpPr>
        <p:spPr>
          <a:xfrm>
            <a:off x="4315968" y="3520440"/>
            <a:ext cx="109728" cy="109728"/>
          </a:xfrm>
          <a:prstGeom prst="ellipse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79" y="344728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resilience://chaos/status</a:t>
            </a:r>
          </a:p>
        </p:txBody>
      </p:sp>
      <p:sp>
        <p:nvSpPr>
          <p:cNvPr id="29" name="Oval 28"/>
          <p:cNvSpPr/>
          <p:nvPr/>
        </p:nvSpPr>
        <p:spPr>
          <a:xfrm>
            <a:off x="4315968" y="4114800"/>
            <a:ext cx="109728" cy="109728"/>
          </a:xfrm>
          <a:prstGeom prst="ellipse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79" y="404164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resilience://experiments/latest</a:t>
            </a:r>
          </a:p>
        </p:txBody>
      </p:sp>
      <p:sp>
        <p:nvSpPr>
          <p:cNvPr id="31" name="Oval 30"/>
          <p:cNvSpPr/>
          <p:nvPr/>
        </p:nvSpPr>
        <p:spPr>
          <a:xfrm>
            <a:off x="4315968" y="4709160"/>
            <a:ext cx="109728" cy="109728"/>
          </a:xfrm>
          <a:prstGeom prst="ellipse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79" y="463600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resilience://dashboard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80375" y="1508760"/>
            <a:ext cx="3246120" cy="3886200"/>
          </a:xfrm>
          <a:prstGeom prst="roundRect">
            <a:avLst/>
          </a:prstGeom>
          <a:solidFill>
            <a:srgbClr val="EFEA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80375" y="1508760"/>
            <a:ext cx="3246120" cy="73152"/>
          </a:xfrm>
          <a:prstGeom prst="rect">
            <a:avLst/>
          </a:prstGeom>
          <a:solidFill>
            <a:srgbClr val="7C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81544" y="1755648"/>
            <a:ext cx="21031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700" b="1">
                <a:solidFill>
                  <a:srgbClr val="7C5CDC"/>
                </a:solidFill>
                <a:latin typeface="Aptos"/>
              </a:rPr>
              <a:t>PROMPTS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12096" y="1719072"/>
            <a:ext cx="685800" cy="347472"/>
          </a:xfrm>
          <a:prstGeom prst="roundRect">
            <a:avLst/>
          </a:prstGeom>
          <a:solidFill>
            <a:srgbClr val="7C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12096" y="1737360"/>
            <a:ext cx="6858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REASON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2240280"/>
            <a:ext cx="278892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0D182A"/>
                </a:solidFill>
                <a:latin typeface="Aptos"/>
              </a:rPr>
              <a:t>Guide consistent AI analysis</a:t>
            </a:r>
          </a:p>
        </p:txBody>
      </p:sp>
      <p:sp>
        <p:nvSpPr>
          <p:cNvPr id="39" name="Oval 38"/>
          <p:cNvSpPr/>
          <p:nvPr/>
        </p:nvSpPr>
        <p:spPr>
          <a:xfrm>
            <a:off x="7808975" y="2926080"/>
            <a:ext cx="109728" cy="109728"/>
          </a:xfrm>
          <a:prstGeom prst="ellipse">
            <a:avLst/>
          </a:prstGeom>
          <a:solidFill>
            <a:srgbClr val="7C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19288" y="285292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resilience_analysis</a:t>
            </a:r>
          </a:p>
        </p:txBody>
      </p:sp>
      <p:sp>
        <p:nvSpPr>
          <p:cNvPr id="41" name="Oval 40"/>
          <p:cNvSpPr/>
          <p:nvPr/>
        </p:nvSpPr>
        <p:spPr>
          <a:xfrm>
            <a:off x="7808975" y="3520440"/>
            <a:ext cx="109728" cy="109728"/>
          </a:xfrm>
          <a:prstGeom prst="ellipse">
            <a:avLst/>
          </a:prstGeom>
          <a:solidFill>
            <a:srgbClr val="7C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19288" y="344728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Baseline vs. failure behavior</a:t>
            </a:r>
          </a:p>
        </p:txBody>
      </p:sp>
      <p:sp>
        <p:nvSpPr>
          <p:cNvPr id="43" name="Oval 42"/>
          <p:cNvSpPr/>
          <p:nvPr/>
        </p:nvSpPr>
        <p:spPr>
          <a:xfrm>
            <a:off x="7808975" y="4114800"/>
            <a:ext cx="109728" cy="109728"/>
          </a:xfrm>
          <a:prstGeom prst="ellipse">
            <a:avLst/>
          </a:prstGeom>
          <a:solidFill>
            <a:srgbClr val="7C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19288" y="404164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Recovery &amp; resilience gaps</a:t>
            </a:r>
          </a:p>
        </p:txBody>
      </p:sp>
      <p:sp>
        <p:nvSpPr>
          <p:cNvPr id="45" name="Oval 44"/>
          <p:cNvSpPr/>
          <p:nvPr/>
        </p:nvSpPr>
        <p:spPr>
          <a:xfrm>
            <a:off x="7808975" y="4709160"/>
            <a:ext cx="109728" cy="109728"/>
          </a:xfrm>
          <a:prstGeom prst="ellipse">
            <a:avLst/>
          </a:prstGeom>
          <a:solidFill>
            <a:srgbClr val="7C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19288" y="4636008"/>
            <a:ext cx="25146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Evidence-based assessment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0" y="0"/>
            <a:ext cx="0" cy="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Aptos"/>
              </a:rPr>
              <a:t/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840480" y="3246120"/>
            <a:ext cx="2286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333488" y="3246120"/>
            <a:ext cx="228600" cy="0"/>
          </a:xfrm>
          <a:prstGeom prst="line">
            <a:avLst/>
          </a:prstGeom>
          <a:ln w="2032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94360" y="5650992"/>
            <a:ext cx="10972800" cy="713232"/>
          </a:xfrm>
          <a:prstGeom prst="roundRect">
            <a:avLst/>
          </a:prstGeom>
          <a:solidFill>
            <a:srgbClr val="162641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" y="5797296"/>
            <a:ext cx="685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276EF1"/>
                </a:solidFill>
                <a:latin typeface="Aptos"/>
              </a:rPr>
              <a:t>TOOLS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81328" y="5797296"/>
            <a:ext cx="4114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act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47088" y="5797296"/>
            <a:ext cx="182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Aptos"/>
              </a:rPr>
              <a:t>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3120" y="5797296"/>
            <a:ext cx="9144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20B070"/>
                </a:solidFill>
                <a:latin typeface="Aptos"/>
              </a:rPr>
              <a:t>RESOURCES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71800" y="5797296"/>
            <a:ext cx="59436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inform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39312" y="5797296"/>
            <a:ext cx="1828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Aptos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86200" y="5797296"/>
            <a:ext cx="77724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7C5CDC"/>
                </a:solidFill>
                <a:latin typeface="Aptos"/>
              </a:rPr>
              <a:t>PROMPTS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45152" y="5797296"/>
            <a:ext cx="105156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ptos"/>
              </a:rPr>
              <a:t>guide reasoning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33872" y="5769864"/>
            <a:ext cx="2743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Aptos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99632" y="5742432"/>
            <a:ext cx="4480560" cy="310896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AI-driven resilience assessment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292840" y="6473952"/>
            <a:ext cx="4114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0D182A"/>
                </a:solidFill>
                <a:latin typeface="Aptos"/>
              </a:rPr>
              <a:t>What the AI can conclude from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107899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0">
                <a:solidFill>
                  <a:srgbClr val="64748B"/>
                </a:solidFill>
                <a:latin typeface="Aptos"/>
              </a:rPr>
              <a:t>The experiment result becomes structured context for reasoning.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3429000" cy="3429000"/>
          </a:xfrm>
          <a:prstGeom prst="roundRect">
            <a:avLst/>
          </a:prstGeom>
          <a:solidFill>
            <a:srgbClr val="FDE8E8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64008" cy="3429000"/>
          </a:xfrm>
          <a:prstGeom prst="rect">
            <a:avLst/>
          </a:prstGeom>
          <a:solidFill>
            <a:srgbClr val="E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755648"/>
            <a:ext cx="3063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FAILURE HANDLING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03120"/>
            <a:ext cx="3063240" cy="27706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Dependency failure observed
Checkout returned HTTP 503
Failure surfaced promptly
No fallback behavior evidenced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00200"/>
            <a:ext cx="3429000" cy="3429000"/>
          </a:xfrm>
          <a:prstGeom prst="roundRect">
            <a:avLst/>
          </a:prstGeom>
          <a:solidFill>
            <a:srgbClr val="E2F7EE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600200"/>
            <a:ext cx="64008" cy="3429000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0288" y="1755648"/>
            <a:ext cx="3063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103120"/>
            <a:ext cx="3063240" cy="27706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Payment fault restored
Checkout returned HTTP 200
Automated recovery validation passed
Recovery path is measurable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00200"/>
            <a:ext cx="3429000" cy="3429000"/>
          </a:xfrm>
          <a:prstGeom prst="roundRect">
            <a:avLst/>
          </a:prstGeom>
          <a:solidFill>
            <a:srgbClr val="FFF4D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92440" y="1600200"/>
            <a:ext cx="64008" cy="3429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3608" y="1755648"/>
            <a:ext cx="3063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RESILIENCE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103120"/>
            <a:ext cx="3063240" cy="27706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50" b="0">
                <a:solidFill>
                  <a:srgbClr val="1E293B"/>
                </a:solidFill>
                <a:latin typeface="Aptos"/>
              </a:rPr>
              <a:t>Payment outage propagates to Checkout
No graceful fallback evidenced
Next: latency / timeout / circuit breaker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40680"/>
            <a:ext cx="164592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AI reasoning input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5376672"/>
            <a:ext cx="1097280" cy="347472"/>
          </a:xfrm>
          <a:prstGeom prst="round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28800" y="5394959"/>
            <a:ext cx="109728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Topology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63240" y="5376672"/>
            <a:ext cx="1234440" cy="347472"/>
          </a:xfrm>
          <a:prstGeom prst="roundRect">
            <a:avLst/>
          </a:prstGeom>
          <a:solidFill>
            <a:srgbClr val="7C5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5394959"/>
            <a:ext cx="12344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Chaos state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34840" y="5376672"/>
            <a:ext cx="1600200" cy="347472"/>
          </a:xfrm>
          <a:prstGeom prst="round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5394959"/>
            <a:ext cx="16002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Experiment evidence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5376672"/>
            <a:ext cx="1463040" cy="347472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5394959"/>
            <a:ext cx="146304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Analysis prompt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4114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5029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Live dashboard: from experiment to executive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932688"/>
            <a:ext cx="1078992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  <a:latin typeface="Aptos"/>
              </a:rPr>
              <a:t>A browser-based view makes resilience evidence immediately consumable.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1083564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502920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0D182A"/>
                </a:solidFill>
                <a:latin typeface="Aptos"/>
              </a:rPr>
              <a:t>RESILIENCE ENGINEERING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58200" y="1627632"/>
            <a:ext cx="2514600" cy="347472"/>
          </a:xfrm>
          <a:prstGeom prst="round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645920"/>
            <a:ext cx="2514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RESILIENT_RECOVERY_SUCCESS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240280"/>
            <a:ext cx="22860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2240280"/>
            <a:ext cx="64008" cy="105156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61288" y="2395728"/>
            <a:ext cx="1920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EXPERIMENT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715768"/>
            <a:ext cx="19202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HTTP_503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2240280"/>
            <a:ext cx="22860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2240280"/>
            <a:ext cx="64008" cy="10515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0168" y="2395728"/>
            <a:ext cx="1920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DEPENDENCY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715768"/>
            <a:ext cx="19202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Payment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97880" y="2240280"/>
            <a:ext cx="22860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7880" y="2240280"/>
            <a:ext cx="64008" cy="1051560"/>
          </a:xfrm>
          <a:prstGeom prst="rect">
            <a:avLst/>
          </a:prstGeom>
          <a:solidFill>
            <a:srgbClr val="E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9048" y="2395728"/>
            <a:ext cx="1920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9048" y="2715768"/>
            <a:ext cx="19202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503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2240280"/>
            <a:ext cx="22860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66760" y="2240280"/>
            <a:ext cx="64008" cy="1051560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67928" y="2395728"/>
            <a:ext cx="1920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67928" y="2715768"/>
            <a:ext cx="19202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200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0120" y="3657600"/>
            <a:ext cx="228600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0120" y="3657600"/>
            <a:ext cx="64008" cy="822960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61288" y="3813048"/>
            <a:ext cx="1920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4133087"/>
            <a:ext cx="19202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200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246120" y="4069080"/>
            <a:ext cx="18288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429000" y="3657600"/>
            <a:ext cx="228600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29000" y="3657600"/>
            <a:ext cx="64008" cy="822960"/>
          </a:xfrm>
          <a:prstGeom prst="rect">
            <a:avLst/>
          </a:prstGeom>
          <a:solidFill>
            <a:srgbClr val="E149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0168" y="3813048"/>
            <a:ext cx="1920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Chaos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0168" y="4133087"/>
            <a:ext cx="19202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503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715000" y="4069080"/>
            <a:ext cx="18288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897880" y="3657600"/>
            <a:ext cx="228600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97880" y="3657600"/>
            <a:ext cx="64008" cy="822960"/>
          </a:xfrm>
          <a:prstGeom prst="rect">
            <a:avLst/>
          </a:prstGeom>
          <a:solidFill>
            <a:srgbClr val="276E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9048" y="3813048"/>
            <a:ext cx="1920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Restore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9048" y="4133087"/>
            <a:ext cx="19202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✓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183879" y="4069080"/>
            <a:ext cx="182881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366760" y="3657600"/>
            <a:ext cx="228600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366760" y="3657600"/>
            <a:ext cx="64008" cy="822960"/>
          </a:xfrm>
          <a:prstGeom prst="rect">
            <a:avLst/>
          </a:prstGeom>
          <a:solidFill>
            <a:srgbClr val="20B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67928" y="3813048"/>
            <a:ext cx="192024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Aptos"/>
              </a:rPr>
              <a:t>Recovery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67928" y="4133087"/>
            <a:ext cx="1920240" cy="4114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300" b="1">
                <a:solidFill>
                  <a:srgbClr val="0D182A"/>
                </a:solidFill>
                <a:latin typeface="Aptos"/>
              </a:rPr>
              <a:t>200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" y="4800600"/>
            <a:ext cx="18288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Aptos"/>
              </a:rPr>
              <a:t>RESILIENCE FINDING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093208"/>
            <a:ext cx="804672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500" b="1">
                <a:solidFill>
                  <a:srgbClr val="0D182A"/>
                </a:solidFill>
                <a:latin typeface="Aptos"/>
              </a:rPr>
              <a:t>Checkout propagates Payment outage; recovery succeeds.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29800" y="5029200"/>
            <a:ext cx="68580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1100" b="1">
                <a:solidFill>
                  <a:srgbClr val="20B070"/>
                </a:solidFill>
                <a:latin typeface="Aptos"/>
              </a:rPr>
              <a:t>LIVE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92840" y="6473952"/>
            <a:ext cx="4114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10972800" cy="53035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FROM POC TO AN AI-DRIVEN CHAOS TESTING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96112"/>
            <a:ext cx="10972800" cy="34747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Aptos"/>
              </a:rPr>
              <a:t>One AI interface • Multiple chaos engines • Enterprise-wide resilience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444752"/>
            <a:ext cx="2057400" cy="1024128"/>
          </a:xfrm>
          <a:prstGeom prst="roundRect">
            <a:avLst/>
          </a:prstGeom>
          <a:solidFill>
            <a:srgbClr val="162B46"/>
          </a:solidFill>
          <a:ln>
            <a:solidFill>
              <a:srgbClr val="276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27632"/>
            <a:ext cx="173736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500" b="1">
                <a:solidFill>
                  <a:srgbClr val="25D3E8"/>
                </a:solidFill>
                <a:latin typeface="Aptos"/>
              </a:rPr>
              <a:t>AI CHAOS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1965960"/>
            <a:ext cx="173736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Aptos"/>
              </a:rPr>
              <a:t>Intent • Plan • Analyze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63240" y="1444752"/>
            <a:ext cx="2240280" cy="1024128"/>
          </a:xfrm>
          <a:prstGeom prst="roundRect">
            <a:avLst/>
          </a:prstGeom>
          <a:solidFill>
            <a:srgbClr val="162B46"/>
          </a:solidFill>
          <a:ln>
            <a:solidFill>
              <a:srgbClr val="20B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627632"/>
            <a:ext cx="1874519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500" b="1">
                <a:solidFill>
                  <a:srgbClr val="20B070"/>
                </a:solidFill>
                <a:latin typeface="Aptos"/>
              </a:rPr>
              <a:t>MCP TOOL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65960"/>
            <a:ext cx="1874519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Aptos"/>
              </a:rPr>
              <a:t>Common chaos interface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70048" y="1956816"/>
            <a:ext cx="365760" cy="0"/>
          </a:xfrm>
          <a:prstGeom prst="line">
            <a:avLst/>
          </a:prstGeom>
          <a:ln w="22860">
            <a:solidFill>
              <a:srgbClr val="25D3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330952" y="1956816"/>
            <a:ext cx="365760" cy="0"/>
          </a:xfrm>
          <a:prstGeom prst="line">
            <a:avLst/>
          </a:prstGeom>
          <a:ln w="22860">
            <a:solidFill>
              <a:srgbClr val="20B0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715000" y="1307592"/>
            <a:ext cx="5870448" cy="1298448"/>
          </a:xfrm>
          <a:prstGeom prst="roundRect">
            <a:avLst/>
          </a:prstGeom>
          <a:solidFill>
            <a:srgbClr val="12233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61888" y="1490472"/>
            <a:ext cx="5394960" cy="274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PLUGGABLE CHAOS ENGINE CONNECTORS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1901952"/>
            <a:ext cx="539496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000" b="0">
                <a:solidFill>
                  <a:srgbClr val="94A3B8"/>
                </a:solidFill>
                <a:latin typeface="Aptos"/>
              </a:rPr>
              <a:t>Engine-agnostic execution layer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999232"/>
            <a:ext cx="2578608" cy="1170432"/>
          </a:xfrm>
          <a:prstGeom prst="roundRect">
            <a:avLst/>
          </a:prstGeom>
          <a:solidFill>
            <a:srgbClr val="12233A"/>
          </a:solidFill>
          <a:ln>
            <a:solidFill>
              <a:srgbClr val="276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255264"/>
            <a:ext cx="2359152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WireMock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621024"/>
            <a:ext cx="2359152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00" b="1">
                <a:solidFill>
                  <a:srgbClr val="276EF1"/>
                </a:solidFill>
                <a:latin typeface="Aptos"/>
              </a:rPr>
              <a:t>Current PoC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2999232"/>
            <a:ext cx="2578608" cy="1170432"/>
          </a:xfrm>
          <a:prstGeom prst="roundRect">
            <a:avLst/>
          </a:prstGeom>
          <a:solidFill>
            <a:srgbClr val="12233A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3255264"/>
            <a:ext cx="2359152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AWS FIS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3621024"/>
            <a:ext cx="2359152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00" b="1">
                <a:solidFill>
                  <a:srgbClr val="F5A623"/>
                </a:solidFill>
                <a:latin typeface="Aptos"/>
              </a:rPr>
              <a:t>Future connector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2999232"/>
            <a:ext cx="2578608" cy="1170432"/>
          </a:xfrm>
          <a:prstGeom prst="roundRect">
            <a:avLst/>
          </a:prstGeom>
          <a:solidFill>
            <a:srgbClr val="12233A"/>
          </a:solidFill>
          <a:ln>
            <a:solidFill>
              <a:srgbClr val="25D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18504" y="3255264"/>
            <a:ext cx="2359152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Azure Chaos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3621024"/>
            <a:ext cx="2359152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00" b="1">
                <a:solidFill>
                  <a:srgbClr val="25D3E8"/>
                </a:solidFill>
                <a:latin typeface="Aptos"/>
              </a:rPr>
              <a:t>Future connector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15984" y="2999232"/>
            <a:ext cx="2578608" cy="1170432"/>
          </a:xfrm>
          <a:prstGeom prst="roundRect">
            <a:avLst/>
          </a:prstGeom>
          <a:solidFill>
            <a:srgbClr val="12233A"/>
          </a:solidFill>
          <a:ln>
            <a:solidFill>
              <a:srgbClr val="7C5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25711" y="3255264"/>
            <a:ext cx="2359152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LitmusChaos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711" y="3621024"/>
            <a:ext cx="2359152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00" b="1">
                <a:solidFill>
                  <a:srgbClr val="7C5CDC"/>
                </a:solidFill>
                <a:latin typeface="Aptos"/>
              </a:rPr>
              <a:t>Future connector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4498848"/>
            <a:ext cx="320040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94A3B8"/>
                </a:solidFill>
                <a:latin typeface="Aptos"/>
              </a:rPr>
              <a:t>COMMON RESILIENCE WORKFLOW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828032"/>
            <a:ext cx="1993392" cy="914400"/>
          </a:xfrm>
          <a:prstGeom prst="roundRect">
            <a:avLst/>
          </a:prstGeom>
          <a:solidFill>
            <a:srgbClr val="162B46"/>
          </a:solidFill>
          <a:ln>
            <a:solidFill>
              <a:srgbClr val="276E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001768"/>
            <a:ext cx="177393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276EF1"/>
                </a:solidFill>
                <a:latin typeface="Aptos"/>
              </a:rPr>
              <a:t>Inject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303520"/>
            <a:ext cx="1773936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ptos"/>
              </a:rPr>
              <a:t>controlled fault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624328" y="5285232"/>
            <a:ext cx="219456" cy="0"/>
          </a:xfrm>
          <a:prstGeom prst="line">
            <a:avLst/>
          </a:prstGeom>
          <a:ln w="2286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898648" y="4828032"/>
            <a:ext cx="1993392" cy="914400"/>
          </a:xfrm>
          <a:prstGeom prst="roundRect">
            <a:avLst/>
          </a:prstGeom>
          <a:solidFill>
            <a:srgbClr val="162B46"/>
          </a:solidFill>
          <a:ln>
            <a:solidFill>
              <a:srgbClr val="20B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08376" y="5001768"/>
            <a:ext cx="177393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20B070"/>
                </a:solidFill>
                <a:latin typeface="Aptos"/>
              </a:rPr>
              <a:t>Execute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8376" y="5303520"/>
            <a:ext cx="1773936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ptos"/>
              </a:rPr>
              <a:t>ITAF / test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28616" y="5285232"/>
            <a:ext cx="219456" cy="0"/>
          </a:xfrm>
          <a:prstGeom prst="line">
            <a:avLst/>
          </a:prstGeom>
          <a:ln w="2286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202936" y="4828032"/>
            <a:ext cx="1993392" cy="914400"/>
          </a:xfrm>
          <a:prstGeom prst="roundRect">
            <a:avLst/>
          </a:prstGeom>
          <a:solidFill>
            <a:srgbClr val="162B46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12664" y="5001768"/>
            <a:ext cx="177393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F5A623"/>
                </a:solidFill>
                <a:latin typeface="Aptos"/>
              </a:rPr>
              <a:t>Observe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12664" y="5303520"/>
            <a:ext cx="1773936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ptos"/>
              </a:rPr>
              <a:t>system behavior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232904" y="5285232"/>
            <a:ext cx="219456" cy="0"/>
          </a:xfrm>
          <a:prstGeom prst="line">
            <a:avLst/>
          </a:prstGeom>
          <a:ln w="2286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507224" y="4828032"/>
            <a:ext cx="1993392" cy="914400"/>
          </a:xfrm>
          <a:prstGeom prst="roundRect">
            <a:avLst/>
          </a:prstGeom>
          <a:solidFill>
            <a:srgbClr val="162B46"/>
          </a:solidFill>
          <a:ln>
            <a:solidFill>
              <a:srgbClr val="25D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16952" y="5001768"/>
            <a:ext cx="177393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25D3E8"/>
                </a:solidFill>
                <a:latin typeface="Aptos"/>
              </a:rPr>
              <a:t>Recover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16952" y="5303520"/>
            <a:ext cx="1773936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ptos"/>
              </a:rPr>
              <a:t>restore + validate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537192" y="5285232"/>
            <a:ext cx="219456" cy="0"/>
          </a:xfrm>
          <a:prstGeom prst="line">
            <a:avLst/>
          </a:prstGeom>
          <a:ln w="2286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811512" y="4828032"/>
            <a:ext cx="1993392" cy="914400"/>
          </a:xfrm>
          <a:prstGeom prst="roundRect">
            <a:avLst/>
          </a:prstGeom>
          <a:solidFill>
            <a:srgbClr val="162B46"/>
          </a:solidFill>
          <a:ln>
            <a:solidFill>
              <a:srgbClr val="7C5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21240" y="5001768"/>
            <a:ext cx="1773936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1300" b="1">
                <a:solidFill>
                  <a:srgbClr val="7C5CDC"/>
                </a:solidFill>
                <a:latin typeface="Aptos"/>
              </a:rPr>
              <a:t>Analyze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21240" y="5303520"/>
            <a:ext cx="1773936" cy="18288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Aptos"/>
              </a:rPr>
              <a:t>AI resilience insight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5989320"/>
            <a:ext cx="10972800" cy="502920"/>
          </a:xfrm>
          <a:prstGeom prst="roundRect">
            <a:avLst/>
          </a:prstGeom>
          <a:solidFill>
            <a:srgbClr val="162641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6117336"/>
            <a:ext cx="594360" cy="201168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000" b="1">
                <a:solidFill>
                  <a:srgbClr val="25D3E8"/>
                </a:solidFill>
                <a:latin typeface="Aptos"/>
              </a:rPr>
              <a:t>VISION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81328" y="6080760"/>
            <a:ext cx="9646920" cy="256032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AI selects the experiment • MCP standardizes execution • Connectors bring chaos to any target environment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92840" y="6473952"/>
            <a:ext cx="41148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1">
                <a:solidFill>
                  <a:srgbClr val="94A3B8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