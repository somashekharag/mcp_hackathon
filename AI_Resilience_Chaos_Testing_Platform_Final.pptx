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65" r:id="rId4"/>
    <p:sldId id="267" r:id="rId5"/>
    <p:sldId id="266" r:id="rId6"/>
    <p:sldId id="269" r:id="rId7"/>
    <p:sldId id="261" r:id="rId8"/>
    <p:sldId id="268" r:id="rId9"/>
    <p:sldId id="262" r:id="rId10"/>
    <p:sldId id="257" r:id="rId11"/>
    <p:sldId id="258" r:id="rId12"/>
    <p:sldId id="259" r:id="rId13"/>
    <p:sldId id="263" r:id="rId14"/>
    <p:sldId id="26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8" autoAdjust="0"/>
    <p:restoredTop sz="94660"/>
  </p:normalViewPr>
  <p:slideViewPr>
    <p:cSldViewPr snapToGrid="0" snapToObjects="1">
      <p:cViewPr>
        <p:scale>
          <a:sx n="113" d="100"/>
          <a:sy n="113" d="100"/>
        </p:scale>
        <p:origin x="34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4AB48-2AD9-4B5D-99E5-3EEBC005D66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64BC92-67CC-49A4-9E0E-F6204966A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71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4BC92-67CC-49A4-9E0E-F6204966AB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463040" cy="1463040"/>
          </a:xfrm>
          <a:prstGeom prst="round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698480" y="1143000"/>
            <a:ext cx="822960" cy="822960"/>
          </a:xfrm>
          <a:prstGeom prst="roundRect">
            <a:avLst/>
          </a:prstGeom>
          <a:solidFill>
            <a:srgbClr val="2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5440" y="1417320"/>
            <a:ext cx="502920" cy="502920"/>
          </a:xfrm>
          <a:prstGeom prst="round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5029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5D3E8"/>
                </a:solidFill>
                <a:latin typeface="Aptos"/>
              </a:rPr>
              <a:t>AI-DRIVEN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77240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Resilience &amp;
Chaos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63240"/>
            <a:ext cx="704088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Aptos"/>
              </a:rPr>
              <a:t>Don’t just test when systems work.
Test how they behave when things go wrong.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51960"/>
            <a:ext cx="914400" cy="347472"/>
          </a:xfrm>
          <a:prstGeom prst="round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4270248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4251960"/>
            <a:ext cx="1143000" cy="347472"/>
          </a:xfrm>
          <a:prstGeom prst="roundRect">
            <a:avLst/>
          </a:prstGeom>
          <a:solidFill>
            <a:srgbClr val="4C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20251" y="4284297"/>
            <a:ext cx="1213795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Controlled Chaos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44952" y="4251960"/>
            <a:ext cx="1234440" cy="347472"/>
          </a:xfrm>
          <a:prstGeom prst="round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76916" y="4284297"/>
            <a:ext cx="1170513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Automated Tests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16552" y="4251960"/>
            <a:ext cx="1234440" cy="347472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4270248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AI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5-minute PoC demonstration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 CAN REASON. CHAOS TOOLS CAN ACT. WHO CONNECTS THEM?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6988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Resilience capabilities often exist as separate tools — but they are not naturally AI-actionable as one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47088"/>
            <a:ext cx="2331720" cy="2240280"/>
          </a:xfrm>
          <a:prstGeom prst="roundRect">
            <a:avLst/>
          </a:prstGeom>
          <a:solidFill>
            <a:srgbClr val="162B46"/>
          </a:solidFill>
          <a:ln>
            <a:solidFill>
              <a:srgbClr val="2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9536" y="1900089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33472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Reason &amp;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828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Understands intent
Explains results
Finds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847088"/>
            <a:ext cx="4800600" cy="2240280"/>
          </a:xfrm>
          <a:prstGeom prst="roundRect">
            <a:avLst/>
          </a:prstGeom>
          <a:solidFill>
            <a:srgbClr val="181F30"/>
          </a:solidFill>
          <a:ln>
            <a:solidFill>
              <a:srgbClr val="5C4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0020" y="1943100"/>
            <a:ext cx="4251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GAP</a:t>
            </a:r>
          </a:p>
        </p:txBody>
      </p:sp>
      <p:sp>
        <p:nvSpPr>
          <p:cNvPr id="10" name="Oval 9"/>
          <p:cNvSpPr/>
          <p:nvPr/>
        </p:nvSpPr>
        <p:spPr>
          <a:xfrm>
            <a:off x="5760720" y="2359152"/>
            <a:ext cx="566928" cy="5669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60720" y="2359152"/>
            <a:ext cx="566928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914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999232"/>
            <a:ext cx="4069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 common AI-native interaction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392424"/>
            <a:ext cx="38862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 can reason about resilience,
but needs a standardized way to discover,
invoke and consume resilience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847088"/>
            <a:ext cx="2331720" cy="2240280"/>
          </a:xfrm>
          <a:prstGeom prst="roundRect">
            <a:avLst/>
          </a:prstGeom>
          <a:solidFill>
            <a:srgbClr val="162B46"/>
          </a:solidFill>
          <a:ln>
            <a:solidFill>
              <a:srgbClr val="D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00032" y="1924812"/>
            <a:ext cx="1938528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DC465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CHAOS +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4021" y="2560320"/>
            <a:ext cx="1938528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Inject faults
Execute tests
Expose evidence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35808" y="2845477"/>
            <a:ext cx="621792" cy="0"/>
          </a:xfrm>
          <a:prstGeom prst="line">
            <a:avLst/>
          </a:prstGeom>
          <a:ln w="27940">
            <a:solidFill>
              <a:srgbClr val="25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49640" y="2837349"/>
            <a:ext cx="640080" cy="0"/>
          </a:xfrm>
          <a:prstGeom prst="line">
            <a:avLst/>
          </a:prstGeom>
          <a:ln w="2794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51560" y="4892040"/>
            <a:ext cx="10058400" cy="569637"/>
          </a:xfrm>
          <a:prstGeom prst="roundRect">
            <a:avLst/>
          </a:prstGeom>
          <a:solidFill>
            <a:srgbClr val="12233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5065776"/>
            <a:ext cx="1508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020056"/>
            <a:ext cx="7909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Make existing resilience capabilities discoverable, actionable and analyzable by AI.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MCP: THE BRIDGE BETWEEN AI AND RESILIENCE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024128"/>
            <a:ext cx="9875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MCP gives AI a standardized interaction model to act, access context, and reason.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1874519" cy="1417320"/>
          </a:xfrm>
          <a:prstGeom prst="roundRect">
            <a:avLst/>
          </a:prstGeom>
          <a:solidFill>
            <a:srgbClr val="162B46"/>
          </a:solidFill>
          <a:ln>
            <a:solidFill>
              <a:srgbClr val="2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78608"/>
            <a:ext cx="1572768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Intent • Orchestrate •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554480"/>
            <a:ext cx="6625675" cy="1965960"/>
          </a:xfrm>
          <a:prstGeom prst="roundRect">
            <a:avLst/>
          </a:prstGeom>
          <a:solidFill>
            <a:srgbClr val="12233A"/>
          </a:solidFill>
          <a:ln>
            <a:solidFill>
              <a:srgbClr val="20B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54680" y="1764792"/>
            <a:ext cx="58521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0B0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MCP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112264"/>
            <a:ext cx="5852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Standardized AI interaction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542032"/>
            <a:ext cx="1737360" cy="713232"/>
          </a:xfrm>
          <a:prstGeom prst="roundRect">
            <a:avLst/>
          </a:prstGeom>
          <a:solidFill>
            <a:srgbClr val="162B46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2670048"/>
            <a:ext cx="159105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276EF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953512"/>
            <a:ext cx="159105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542032"/>
            <a:ext cx="1737360" cy="713232"/>
          </a:xfrm>
          <a:prstGeom prst="roundRect">
            <a:avLst/>
          </a:prstGeom>
          <a:solidFill>
            <a:srgbClr val="162B46"/>
          </a:solidFill>
          <a:ln>
            <a:solidFill>
              <a:srgbClr val="20B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76672" y="2670048"/>
            <a:ext cx="159105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20B0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2953512"/>
            <a:ext cx="159105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542032"/>
            <a:ext cx="1737360" cy="713232"/>
          </a:xfrm>
          <a:prstGeom prst="roundRect">
            <a:avLst/>
          </a:prstGeom>
          <a:solidFill>
            <a:srgbClr val="162B46"/>
          </a:solidFill>
          <a:ln>
            <a:solidFill>
              <a:srgbClr val="7C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34072" y="2670048"/>
            <a:ext cx="159105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7C5C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2" y="2953512"/>
            <a:ext cx="159105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3886200"/>
            <a:ext cx="1874519" cy="1234440"/>
          </a:xfrm>
          <a:prstGeom prst="roundRect">
            <a:avLst/>
          </a:prstGeom>
          <a:solidFill>
            <a:srgbClr val="162B46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18688" y="4096512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76EF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4443984"/>
            <a:ext cx="1554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Inject faults
Restore dependencies
Run experiments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886200"/>
            <a:ext cx="1874519" cy="1234440"/>
          </a:xfrm>
          <a:prstGeom prst="roundRect">
            <a:avLst/>
          </a:prstGeom>
          <a:solidFill>
            <a:srgbClr val="162B46"/>
          </a:solidFill>
          <a:ln>
            <a:solidFill>
              <a:srgbClr val="20B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58968" y="4096512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0B0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PROVIDE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4443984"/>
            <a:ext cx="1554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Topology
Experiment evidence
Live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3886200"/>
            <a:ext cx="1874519" cy="1234440"/>
          </a:xfrm>
          <a:prstGeom prst="roundRect">
            <a:avLst/>
          </a:prstGeom>
          <a:solidFill>
            <a:srgbClr val="162B46"/>
          </a:solidFill>
          <a:ln>
            <a:solidFill>
              <a:srgbClr val="7C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99248" y="4096512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C5C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4443984"/>
            <a:ext cx="15544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Assess behavior
Find resilience gaps
Generate insights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14600" y="2542032"/>
            <a:ext cx="320040" cy="0"/>
          </a:xfrm>
          <a:prstGeom prst="line">
            <a:avLst/>
          </a:prstGeom>
          <a:ln w="27940">
            <a:solidFill>
              <a:srgbClr val="25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858768" y="3547872"/>
            <a:ext cx="2221992" cy="292608"/>
          </a:xfrm>
          <a:prstGeom prst="line">
            <a:avLst/>
          </a:prstGeom>
          <a:ln w="2286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0760" y="3547872"/>
            <a:ext cx="0" cy="292608"/>
          </a:xfrm>
          <a:prstGeom prst="line">
            <a:avLst/>
          </a:prstGeom>
          <a:ln w="22860">
            <a:solidFill>
              <a:srgbClr val="20B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80760" y="3547872"/>
            <a:ext cx="2167128" cy="292608"/>
          </a:xfrm>
          <a:prstGeom prst="line">
            <a:avLst/>
          </a:prstGeom>
          <a:ln w="22860">
            <a:solidFill>
              <a:srgbClr val="7C5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9808" y="5669280"/>
            <a:ext cx="10652760" cy="301413"/>
          </a:xfrm>
          <a:prstGeom prst="roundRect">
            <a:avLst/>
          </a:prstGeom>
          <a:solidFill>
            <a:srgbClr val="16264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1560" y="5715000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5669280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1952" y="571500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0B0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87752" y="5669280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07792" y="5687568"/>
            <a:ext cx="1965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RESILIENCE EXPERIMENT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65192" y="5669280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5715000"/>
            <a:ext cx="914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5669280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5715000"/>
            <a:ext cx="1143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7C5C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5552" y="5669280"/>
            <a:ext cx="274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5687568"/>
            <a:ext cx="2057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RESILIENCE INSIGHT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LIVE EXPERIMENT 01 — PAYMENT HTTP 503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15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Inject a controlled dependency failure and validate Checkout behavior + recovery.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72768"/>
            <a:ext cx="2743200" cy="3520440"/>
          </a:xfrm>
          <a:prstGeom prst="roundRect">
            <a:avLst/>
          </a:prstGeom>
          <a:solidFill>
            <a:srgbClr val="101D30"/>
          </a:solidFill>
          <a:ln>
            <a:solidFill>
              <a:srgbClr val="2D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0165" y="178308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EF5B5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48840"/>
            <a:ext cx="22860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HTTP 503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52928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34640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291840"/>
            <a:ext cx="1325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Service unavailable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67912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03904"/>
            <a:ext cx="132588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Observe graceful /
degraded behavior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7175" y="4480560"/>
            <a:ext cx="2240280" cy="329184"/>
          </a:xfrm>
          <a:prstGeom prst="roundRect">
            <a:avLst/>
          </a:prstGeom>
          <a:solidFill>
            <a:srgbClr val="3C191F"/>
          </a:solidFill>
          <a:ln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327" y="4553712"/>
            <a:ext cx="2084831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EF5B5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CONTROLLED 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810512"/>
            <a:ext cx="4709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RESILIENCE LOOP</a:t>
            </a:r>
          </a:p>
        </p:txBody>
      </p:sp>
      <p:sp>
        <p:nvSpPr>
          <p:cNvPr id="16" name="Oval 15"/>
          <p:cNvSpPr/>
          <p:nvPr/>
        </p:nvSpPr>
        <p:spPr>
          <a:xfrm>
            <a:off x="3703320" y="2331720"/>
            <a:ext cx="420624" cy="420624"/>
          </a:xfrm>
          <a:prstGeom prst="ellipse">
            <a:avLst/>
          </a:prstGeom>
          <a:solidFill>
            <a:srgbClr val="27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03320" y="2368296"/>
            <a:ext cx="420624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70D1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7" y="2852928"/>
            <a:ext cx="749808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BASELINE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0520" y="2542032"/>
            <a:ext cx="493776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727448" y="2331720"/>
            <a:ext cx="420624" cy="420624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27448" y="2368296"/>
            <a:ext cx="420624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70D1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2852928"/>
            <a:ext cx="749808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INJECT 503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84648" y="2542032"/>
            <a:ext cx="493776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751576" y="2331720"/>
            <a:ext cx="420624" cy="420624"/>
          </a:xfrm>
          <a:prstGeom prst="ellipse">
            <a:avLst/>
          </a:prstGeom>
          <a:solidFill>
            <a:srgbClr val="35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51576" y="2368296"/>
            <a:ext cx="420624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70D1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6984" y="2852928"/>
            <a:ext cx="749808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EXECUTE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08776" y="2542032"/>
            <a:ext cx="493776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775704" y="2331720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75704" y="2368296"/>
            <a:ext cx="420624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70D1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852928"/>
            <a:ext cx="749808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RESTORE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32904" y="2542032"/>
            <a:ext cx="493775" cy="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799832" y="2331720"/>
            <a:ext cx="420624" cy="420624"/>
          </a:xfrm>
          <a:prstGeom prst="ellipse">
            <a:avLst/>
          </a:prstGeom>
          <a:solidFill>
            <a:srgbClr val="2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99832" y="2368296"/>
            <a:ext cx="420624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70D1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852928"/>
            <a:ext cx="749808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RECOVER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3320" y="3429000"/>
            <a:ext cx="4709160" cy="1664208"/>
          </a:xfrm>
          <a:prstGeom prst="roundRect">
            <a:avLst/>
          </a:prstGeom>
          <a:solidFill>
            <a:srgbClr val="15273E"/>
          </a:solidFill>
          <a:ln>
            <a:solidFill>
              <a:srgbClr val="2D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31920" y="3675887"/>
            <a:ext cx="4251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EVIDENCE CAPTURED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7253" y="4096512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4805" y="4069080"/>
            <a:ext cx="11430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7BE7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HEALTHY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7253" y="4443984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During fault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34805" y="4416552"/>
            <a:ext cx="146304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EF5B5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DEGRADED / FAILED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3565" y="4096512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9093" y="4069080"/>
            <a:ext cx="868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VALIDATED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3565" y="4443984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9093" y="4416552"/>
            <a:ext cx="1042416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RESILIENT RECOVERY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51392" y="1572768"/>
            <a:ext cx="2852928" cy="3520440"/>
          </a:xfrm>
          <a:prstGeom prst="roundRect">
            <a:avLst/>
          </a:prstGeom>
          <a:solidFill>
            <a:srgbClr val="101D30"/>
          </a:solidFill>
          <a:ln>
            <a:solidFill>
              <a:srgbClr val="92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6840" y="1828800"/>
            <a:ext cx="23042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926C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7129" y="2148840"/>
            <a:ext cx="2400401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did we learn?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2100" y="2545529"/>
            <a:ext cx="2316480" cy="16607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Dependency failure was intentionally introduced
• Checkout behavior was observed under fault
• Payment was restored automatically
• Recovery was validated after restoration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82100" y="4435517"/>
            <a:ext cx="2240280" cy="329184"/>
          </a:xfrm>
          <a:prstGeom prst="roundRect">
            <a:avLst/>
          </a:prstGeom>
          <a:solidFill>
            <a:srgbClr val="271E41"/>
          </a:solidFill>
          <a:ln>
            <a:solidFill>
              <a:srgbClr val="92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273540" y="4508669"/>
            <a:ext cx="20574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926C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EVIDENCE → INSIGHT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5641848"/>
            <a:ext cx="10972800" cy="384048"/>
          </a:xfrm>
          <a:prstGeom prst="roundRect">
            <a:avLst/>
          </a:prstGeom>
          <a:solidFill>
            <a:srgbClr val="0D1B2D"/>
          </a:solidFill>
          <a:ln>
            <a:solidFill>
              <a:srgbClr val="2D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41248" y="5733288"/>
            <a:ext cx="914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KEY MESSAGE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5669280"/>
            <a:ext cx="93726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 deliberately broke a critical dependency — then proved whether the application could recover.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LIVE EXPERIMENT 02 — PAYMENT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15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Simulate a slow dependency for 5 seconds and observe timing impact + recovery.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72768"/>
            <a:ext cx="2743200" cy="3520440"/>
          </a:xfrm>
          <a:prstGeom prst="roundRect">
            <a:avLst/>
          </a:prstGeom>
          <a:solidFill>
            <a:srgbClr val="101D30"/>
          </a:solidFill>
          <a:ln>
            <a:solidFill>
              <a:srgbClr val="2D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22860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5s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52928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34640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291840"/>
            <a:ext cx="1325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Fixed 5,000 ms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67912"/>
            <a:ext cx="914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03904"/>
            <a:ext cx="132588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Measure timing /
timeout behavior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40" y="4427051"/>
            <a:ext cx="2240280" cy="329184"/>
          </a:xfrm>
          <a:prstGeom prst="roundRect">
            <a:avLst/>
          </a:prstGeom>
          <a:solidFill>
            <a:srgbClr val="423016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6592" y="4500203"/>
            <a:ext cx="2084831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CONTROLLED DELAY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810512"/>
            <a:ext cx="4709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TIMING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2331720"/>
            <a:ext cx="4526280" cy="502920"/>
          </a:xfrm>
          <a:prstGeom prst="round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794760" y="2331720"/>
            <a:ext cx="960120" cy="502920"/>
          </a:xfrm>
          <a:prstGeom prst="roundRect">
            <a:avLst/>
          </a:prstGeom>
          <a:solidFill>
            <a:srgbClr val="27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94760" y="2459736"/>
            <a:ext cx="9601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70D1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331720"/>
            <a:ext cx="3566160" cy="502920"/>
          </a:xfrm>
          <a:prstGeom prst="roundRect">
            <a:avLst/>
          </a:prstGeom>
          <a:solidFill>
            <a:srgbClr val="4B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00600" y="2459736"/>
            <a:ext cx="3429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+ 5 SECOND DEPENDENCY DELAY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063240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Normal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063240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~ 5s slower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94960" y="3172968"/>
            <a:ext cx="256032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30752" y="3602736"/>
            <a:ext cx="4709160" cy="1481328"/>
          </a:xfrm>
          <a:prstGeom prst="roundRect">
            <a:avLst/>
          </a:prstGeom>
          <a:solidFill>
            <a:srgbClr val="15273E"/>
          </a:solidFill>
          <a:ln>
            <a:solidFill>
              <a:srgbClr val="2D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97131" y="3776472"/>
            <a:ext cx="4251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EVIDENCE CAPTURED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6859" y="4160520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Baseline duration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9879" y="4133088"/>
            <a:ext cx="914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7BE7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6859" y="4507992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Chaos duration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9220" y="4480560"/>
            <a:ext cx="15544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~5,000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ms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delay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8798" y="4142232"/>
            <a:ext cx="731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0" y="4123944"/>
            <a:ext cx="7315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NORMAL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8798" y="4489704"/>
            <a:ext cx="731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Recovery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5220" y="4473109"/>
            <a:ext cx="7315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1572768"/>
            <a:ext cx="2852928" cy="3520440"/>
          </a:xfrm>
          <a:prstGeom prst="roundRect">
            <a:avLst/>
          </a:prstGeom>
          <a:solidFill>
            <a:srgbClr val="101D30"/>
          </a:solidFill>
          <a:ln>
            <a:solidFill>
              <a:srgbClr val="92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97112" y="1756495"/>
            <a:ext cx="23042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926C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AI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5811" y="2558119"/>
            <a:ext cx="2468880" cy="16607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Dependency latency directly affects transaction time
• Timing evidence exposes potential timeout risk
• The dependency was restored after the experiment
• Recovery behavior was revalidated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4407408"/>
            <a:ext cx="2240280" cy="329184"/>
          </a:xfrm>
          <a:prstGeom prst="roundRect">
            <a:avLst/>
          </a:prstGeom>
          <a:solidFill>
            <a:srgbClr val="271E41"/>
          </a:solidFill>
          <a:ln>
            <a:solidFill>
              <a:srgbClr val="92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89720" y="4480560"/>
            <a:ext cx="20574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926C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TIMING → INSIGHT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632704"/>
            <a:ext cx="10972800" cy="393192"/>
          </a:xfrm>
          <a:prstGeom prst="roundRect">
            <a:avLst/>
          </a:prstGeom>
          <a:solidFill>
            <a:srgbClr val="0D1B2D"/>
          </a:solidFill>
          <a:ln>
            <a:solidFill>
              <a:srgbClr val="2D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1248" y="5733288"/>
            <a:ext cx="914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KEY MESSAGE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691971"/>
            <a:ext cx="93726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Chaos is not only about failures — resilience also means handling slow dependencies predictably.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8FE6FB-D734-7737-8BF2-9DEA0789A4F1}"/>
              </a:ext>
            </a:extLst>
          </p:cNvPr>
          <p:cNvSpPr txBox="1"/>
          <p:nvPr/>
        </p:nvSpPr>
        <p:spPr>
          <a:xfrm>
            <a:off x="9090051" y="2084857"/>
            <a:ext cx="2400401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did we learn?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DF1A-6C92-748A-6A3D-19DD7611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75A513-6525-8DC8-A0B0-D4D93B2C7EA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7D730E-1500-F2BE-0429-92C77F0B2A6B}"/>
              </a:ext>
            </a:extLst>
          </p:cNvPr>
          <p:cNvSpPr txBox="1"/>
          <p:nvPr/>
        </p:nvSpPr>
        <p:spPr>
          <a:xfrm>
            <a:off x="4802293" y="132588"/>
            <a:ext cx="1167307" cy="5078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2700" b="1" dirty="0">
                <a:solidFill>
                  <a:srgbClr val="FFFFFF"/>
                </a:solidFill>
                <a:latin typeface="Aptos"/>
              </a:rPr>
              <a:t>DEMO</a:t>
            </a:r>
            <a:endParaRPr sz="27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B1FA9A-700F-98FC-CF8C-E4DD43927965}"/>
              </a:ext>
            </a:extLst>
          </p:cNvPr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0470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Live dashboard: from experiment to executive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A browser-based view makes resilience evidence immediately consumable.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D182A"/>
                </a:solidFill>
                <a:latin typeface="Aptos"/>
              </a:rPr>
              <a:t>RESILIENCE ENGINEERING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27632"/>
            <a:ext cx="2514600" cy="347472"/>
          </a:xfrm>
          <a:prstGeom prst="round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645920"/>
            <a:ext cx="2514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RESILIENT_RECOVERY_SUCCESS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240280"/>
            <a:ext cx="2286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0120" y="2240280"/>
            <a:ext cx="64008" cy="105156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2395728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EXPERIMENT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715768"/>
            <a:ext cx="19202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HTTP_503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240280"/>
            <a:ext cx="2286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6400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2395728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715768"/>
            <a:ext cx="19202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2240280"/>
            <a:ext cx="2286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7880" y="2240280"/>
            <a:ext cx="64008" cy="1051560"/>
          </a:xfrm>
          <a:prstGeom prst="rect">
            <a:avLst/>
          </a:prstGeom>
          <a:solidFill>
            <a:srgbClr val="E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8" y="2395728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2715768"/>
            <a:ext cx="19202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503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2240280"/>
            <a:ext cx="2286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6760" y="2240280"/>
            <a:ext cx="64008" cy="1051560"/>
          </a:xfrm>
          <a:prstGeom prst="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67928" y="2395728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2715768"/>
            <a:ext cx="19202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200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3657600"/>
            <a:ext cx="22860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60120" y="3657600"/>
            <a:ext cx="64008" cy="822960"/>
          </a:xfrm>
          <a:prstGeom prst="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61288" y="3813048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4133087"/>
            <a:ext cx="19202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200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46120" y="4069080"/>
            <a:ext cx="1828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429000" y="3657600"/>
            <a:ext cx="22860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29000" y="3657600"/>
            <a:ext cx="64008" cy="822960"/>
          </a:xfrm>
          <a:prstGeom prst="rect">
            <a:avLst/>
          </a:prstGeom>
          <a:solidFill>
            <a:srgbClr val="E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30168" y="3813048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Chaos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0168" y="4133087"/>
            <a:ext cx="19202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503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15000" y="4069080"/>
            <a:ext cx="1828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897880" y="3657600"/>
            <a:ext cx="22860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97880" y="3657600"/>
            <a:ext cx="64008" cy="82296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99048" y="3813048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Restore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8" y="4133087"/>
            <a:ext cx="19202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✓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183879" y="4069080"/>
            <a:ext cx="182881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366760" y="3657600"/>
            <a:ext cx="22860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366760" y="3657600"/>
            <a:ext cx="64008" cy="822960"/>
          </a:xfrm>
          <a:prstGeom prst="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67928" y="3813048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Recovery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7928" y="4133087"/>
            <a:ext cx="19202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200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800600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RESILIENCE FINDING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093208"/>
            <a:ext cx="8046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D182A"/>
                </a:solidFill>
                <a:latin typeface="Aptos"/>
              </a:rPr>
              <a:t>Checkout propagates Payment outage; recovery succeeds.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5029200"/>
            <a:ext cx="685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20B070"/>
                </a:solidFill>
                <a:latin typeface="Aptos"/>
              </a:rPr>
              <a:t>LIVE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4340" y="96013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MCP CAPABILITIES COVERED IN THE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1681"/>
            <a:ext cx="105156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One MCP interaction model — capabilities to act, access context, and guide AI reasoning.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3128" y="1062737"/>
            <a:ext cx="2697480" cy="1078992"/>
          </a:xfrm>
          <a:prstGeom prst="roundRect">
            <a:avLst/>
          </a:prstGeom>
          <a:solidFill>
            <a:srgbClr val="15273E"/>
          </a:solidFill>
          <a:ln>
            <a:solidFill>
              <a:srgbClr val="2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09160" y="1318769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36008" y="1702817"/>
            <a:ext cx="2331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ACT  •  INFORM  •  REASON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162808"/>
            <a:ext cx="3246120" cy="2113280"/>
          </a:xfrm>
          <a:prstGeom prst="roundRect">
            <a:avLst/>
          </a:prstGeom>
          <a:solidFill>
            <a:srgbClr val="101D30"/>
          </a:solidFill>
          <a:ln>
            <a:solidFill>
              <a:srgbClr val="2D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7" y="3277191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3584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4" y="3277191"/>
            <a:ext cx="713232" cy="310896"/>
          </a:xfrm>
          <a:prstGeom prst="roundRect">
            <a:avLst/>
          </a:prstGeom>
          <a:solidFill>
            <a:srgbClr val="35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50007" y="3333497"/>
            <a:ext cx="71323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070D1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8060"/>
            <a:ext cx="28346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Execute resilience actions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138504"/>
            <a:ext cx="82296" cy="82296"/>
          </a:xfrm>
          <a:prstGeom prst="ellipse">
            <a:avLst/>
          </a:prstGeom>
          <a:solidFill>
            <a:srgbClr val="35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4074496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run_resilience_experiment</a:t>
            </a:r>
            <a:endParaRPr kumimoji="0" sz="94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005840" y="4449400"/>
            <a:ext cx="82296" cy="82296"/>
          </a:xfrm>
          <a:prstGeom prst="ellipse">
            <a:avLst/>
          </a:prstGeom>
          <a:solidFill>
            <a:srgbClr val="35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4385392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inject_http_503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760296"/>
            <a:ext cx="82296" cy="82296"/>
          </a:xfrm>
          <a:prstGeom prst="ellipse">
            <a:avLst/>
          </a:prstGeom>
          <a:solidFill>
            <a:srgbClr val="35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88720" y="4696288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inject_latency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5071192"/>
            <a:ext cx="82296" cy="82296"/>
          </a:xfrm>
          <a:prstGeom prst="ellipse">
            <a:avLst/>
          </a:prstGeom>
          <a:solidFill>
            <a:srgbClr val="35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8720" y="4965695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restore_dependency</a:t>
            </a:r>
            <a:endParaRPr kumimoji="0" sz="94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83379" y="3181096"/>
            <a:ext cx="3246120" cy="2113280"/>
          </a:xfrm>
          <a:prstGeom prst="roundRect">
            <a:avLst/>
          </a:prstGeom>
          <a:solidFill>
            <a:srgbClr val="101D30"/>
          </a:solidFill>
          <a:ln>
            <a:solidFill>
              <a:srgbClr val="2D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86884" y="3272875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7BE7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RESOURCES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19" y="3285067"/>
            <a:ext cx="713232" cy="310896"/>
          </a:xfrm>
          <a:prstGeom prst="roundRect">
            <a:avLst/>
          </a:prstGeom>
          <a:solidFill>
            <a:srgbClr val="27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46519" y="3350428"/>
            <a:ext cx="71323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070D1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9412" y="3656584"/>
            <a:ext cx="28346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Provide live resilience context</a:t>
            </a:r>
          </a:p>
        </p:txBody>
      </p:sp>
      <p:sp>
        <p:nvSpPr>
          <p:cNvPr id="27" name="Oval 26"/>
          <p:cNvSpPr/>
          <p:nvPr/>
        </p:nvSpPr>
        <p:spPr>
          <a:xfrm>
            <a:off x="4594860" y="4089737"/>
            <a:ext cx="82296" cy="82296"/>
          </a:xfrm>
          <a:prstGeom prst="ellipse">
            <a:avLst/>
          </a:prstGeom>
          <a:solidFill>
            <a:srgbClr val="27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77740" y="4025729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resilience://topology</a:t>
            </a:r>
          </a:p>
        </p:txBody>
      </p:sp>
      <p:sp>
        <p:nvSpPr>
          <p:cNvPr id="29" name="Oval 28"/>
          <p:cNvSpPr/>
          <p:nvPr/>
        </p:nvSpPr>
        <p:spPr>
          <a:xfrm>
            <a:off x="4594860" y="4400633"/>
            <a:ext cx="82296" cy="82296"/>
          </a:xfrm>
          <a:prstGeom prst="ellipse">
            <a:avLst/>
          </a:prstGeom>
          <a:solidFill>
            <a:srgbClr val="27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77740" y="4336625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resilience://chaos/status</a:t>
            </a:r>
          </a:p>
        </p:txBody>
      </p:sp>
      <p:sp>
        <p:nvSpPr>
          <p:cNvPr id="31" name="Oval 30"/>
          <p:cNvSpPr/>
          <p:nvPr/>
        </p:nvSpPr>
        <p:spPr>
          <a:xfrm>
            <a:off x="4594860" y="4711529"/>
            <a:ext cx="82296" cy="82296"/>
          </a:xfrm>
          <a:prstGeom prst="ellipse">
            <a:avLst/>
          </a:prstGeom>
          <a:solidFill>
            <a:srgbClr val="27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77740" y="4647521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resilience://experiments/latest</a:t>
            </a:r>
          </a:p>
        </p:txBody>
      </p:sp>
      <p:sp>
        <p:nvSpPr>
          <p:cNvPr id="33" name="Oval 32"/>
          <p:cNvSpPr/>
          <p:nvPr/>
        </p:nvSpPr>
        <p:spPr>
          <a:xfrm>
            <a:off x="4594860" y="5022425"/>
            <a:ext cx="82296" cy="82296"/>
          </a:xfrm>
          <a:prstGeom prst="ellipse">
            <a:avLst/>
          </a:prstGeom>
          <a:solidFill>
            <a:srgbClr val="27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77740" y="4958417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resilience://dashboard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3162808"/>
            <a:ext cx="3246120" cy="2113280"/>
          </a:xfrm>
          <a:prstGeom prst="roundRect">
            <a:avLst/>
          </a:prstGeom>
          <a:solidFill>
            <a:srgbClr val="101D30"/>
          </a:solidFill>
          <a:ln>
            <a:solidFill>
              <a:srgbClr val="2D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66759" y="3282695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926C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PROMPTS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7252" y="3288707"/>
            <a:ext cx="713232" cy="310896"/>
          </a:xfrm>
          <a:prstGeom prst="roundRect">
            <a:avLst/>
          </a:prstGeom>
          <a:solidFill>
            <a:srgbClr val="92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017252" y="3336712"/>
            <a:ext cx="71323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070D1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91856" y="3690448"/>
            <a:ext cx="28346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Guide consistent AI analysis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1" y="4076021"/>
            <a:ext cx="82296" cy="82296"/>
          </a:xfrm>
          <a:prstGeom prst="ellipse">
            <a:avLst/>
          </a:prstGeom>
          <a:solidFill>
            <a:srgbClr val="92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95360" y="4012013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resilience_analysis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1" y="4386917"/>
            <a:ext cx="82296" cy="82296"/>
          </a:xfrm>
          <a:prstGeom prst="ellipse">
            <a:avLst/>
          </a:prstGeom>
          <a:solidFill>
            <a:srgbClr val="92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595360" y="4322909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Baseline vs. failure behavior</a:t>
            </a:r>
          </a:p>
        </p:txBody>
      </p:sp>
      <p:sp>
        <p:nvSpPr>
          <p:cNvPr id="45" name="Oval 44"/>
          <p:cNvSpPr/>
          <p:nvPr/>
        </p:nvSpPr>
        <p:spPr>
          <a:xfrm>
            <a:off x="8412481" y="4697813"/>
            <a:ext cx="82296" cy="82296"/>
          </a:xfrm>
          <a:prstGeom prst="ellipse">
            <a:avLst/>
          </a:prstGeom>
          <a:solidFill>
            <a:srgbClr val="92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95360" y="4633805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Recovery &amp; resilience gaps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1" y="5008709"/>
            <a:ext cx="82296" cy="82296"/>
          </a:xfrm>
          <a:prstGeom prst="ellipse">
            <a:avLst/>
          </a:prstGeom>
          <a:solidFill>
            <a:srgbClr val="92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95360" y="4944701"/>
            <a:ext cx="2606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Evidence-based assessment</a:t>
            </a:r>
          </a:p>
        </p:txBody>
      </p:sp>
      <p:cxnSp>
        <p:nvCxnSpPr>
          <p:cNvPr id="49" name="Connector 48"/>
          <p:cNvCxnSpPr>
            <a:cxnSpLocks/>
            <a:stCxn id="4" idx="2"/>
            <a:endCxn id="7" idx="0"/>
          </p:cNvCxnSpPr>
          <p:nvPr/>
        </p:nvCxnSpPr>
        <p:spPr>
          <a:xfrm flipH="1">
            <a:off x="2217420" y="2141729"/>
            <a:ext cx="3584448" cy="1021079"/>
          </a:xfrm>
          <a:prstGeom prst="line">
            <a:avLst/>
          </a:prstGeom>
          <a:ln w="22860">
            <a:solidFill>
              <a:srgbClr val="358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cxnSpLocks/>
            <a:stCxn id="4" idx="2"/>
            <a:endCxn id="21" idx="0"/>
          </p:cNvCxnSpPr>
          <p:nvPr/>
        </p:nvCxnSpPr>
        <p:spPr>
          <a:xfrm>
            <a:off x="5801868" y="2141729"/>
            <a:ext cx="4571" cy="1039367"/>
          </a:xfrm>
          <a:prstGeom prst="line">
            <a:avLst/>
          </a:prstGeom>
          <a:ln w="22860">
            <a:solidFill>
              <a:srgbClr val="27B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cxnSpLocks/>
            <a:stCxn id="4" idx="2"/>
            <a:endCxn id="35" idx="0"/>
          </p:cNvCxnSpPr>
          <p:nvPr/>
        </p:nvCxnSpPr>
        <p:spPr>
          <a:xfrm>
            <a:off x="5801868" y="2141729"/>
            <a:ext cx="3547871" cy="1021079"/>
          </a:xfrm>
          <a:prstGeom prst="line">
            <a:avLst/>
          </a:prstGeom>
          <a:ln w="22860">
            <a:solidFill>
              <a:srgbClr val="926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38573" y="5746663"/>
            <a:ext cx="10972800" cy="265176"/>
          </a:xfrm>
          <a:prstGeom prst="roundRect">
            <a:avLst/>
          </a:prstGeom>
          <a:solidFill>
            <a:srgbClr val="0D1B2D"/>
          </a:solidFill>
          <a:ln>
            <a:solidFill>
              <a:srgbClr val="2D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5461" y="5790179"/>
            <a:ext cx="10058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25D3E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MCP ENABLES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8189" y="5755807"/>
            <a:ext cx="9281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Execute experiments  •  Access system evidence  •  Guide AI reasoning  →  AI-driven resilience assessment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FROM POC TO AN AI-DRIVEN CHAOS TESTING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9728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One AI interface • Multiple chaos engines • Enterprise-wide resilience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44752"/>
            <a:ext cx="2057400" cy="1024128"/>
          </a:xfrm>
          <a:prstGeom prst="roundRect">
            <a:avLst/>
          </a:prstGeom>
          <a:solidFill>
            <a:srgbClr val="162B46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627632"/>
            <a:ext cx="1737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25D3E8"/>
                </a:solidFill>
                <a:latin typeface="Aptos"/>
              </a:rPr>
              <a:t>AI CHAOS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65960"/>
            <a:ext cx="17373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Intent • Plan •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444752"/>
            <a:ext cx="2240280" cy="1024128"/>
          </a:xfrm>
          <a:prstGeom prst="roundRect">
            <a:avLst/>
          </a:prstGeom>
          <a:solidFill>
            <a:srgbClr val="162B46"/>
          </a:solidFill>
          <a:ln>
            <a:solidFill>
              <a:srgbClr val="20B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46120" y="1627632"/>
            <a:ext cx="18745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20B070"/>
                </a:solidFill>
                <a:latin typeface="Aptos"/>
              </a:rPr>
              <a:t>MCP TOOL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965960"/>
            <a:ext cx="1874519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Common chaos interface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0048" y="1956816"/>
            <a:ext cx="365760" cy="0"/>
          </a:xfrm>
          <a:prstGeom prst="line">
            <a:avLst/>
          </a:prstGeom>
          <a:ln w="22860">
            <a:solidFill>
              <a:srgbClr val="25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30952" y="1956816"/>
            <a:ext cx="365760" cy="0"/>
          </a:xfrm>
          <a:prstGeom prst="line">
            <a:avLst/>
          </a:prstGeom>
          <a:ln w="22860">
            <a:solidFill>
              <a:srgbClr val="20B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15000" y="1307592"/>
            <a:ext cx="5870448" cy="1298448"/>
          </a:xfrm>
          <a:prstGeom prst="roundRect">
            <a:avLst/>
          </a:prstGeom>
          <a:solidFill>
            <a:srgbClr val="12233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61888" y="1490472"/>
            <a:ext cx="5394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PLUGGABLE CHAOS ENGINE CONNECTORS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901952"/>
            <a:ext cx="5394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Engine-agnostic execution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999232"/>
            <a:ext cx="2578608" cy="1170432"/>
          </a:xfrm>
          <a:prstGeom prst="roundRect">
            <a:avLst/>
          </a:prstGeom>
          <a:solidFill>
            <a:srgbClr val="12233A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3255264"/>
            <a:ext cx="235915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WireMock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621024"/>
            <a:ext cx="235915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276EF1"/>
                </a:solidFill>
                <a:latin typeface="Aptos"/>
              </a:rPr>
              <a:t>Current PoC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2999232"/>
            <a:ext cx="2578608" cy="1170432"/>
          </a:xfrm>
          <a:prstGeom prst="roundRect">
            <a:avLst/>
          </a:prstGeom>
          <a:solidFill>
            <a:srgbClr val="12233A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11296" y="3255264"/>
            <a:ext cx="235915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AWS FIS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3621024"/>
            <a:ext cx="235915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5A623"/>
                </a:solidFill>
                <a:latin typeface="Aptos"/>
              </a:rPr>
              <a:t>Future connector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2999232"/>
            <a:ext cx="2578608" cy="1170432"/>
          </a:xfrm>
          <a:prstGeom prst="roundRect">
            <a:avLst/>
          </a:prstGeom>
          <a:solidFill>
            <a:srgbClr val="12233A"/>
          </a:solidFill>
          <a:ln>
            <a:solidFill>
              <a:srgbClr val="2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18504" y="3255264"/>
            <a:ext cx="235915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Azure Chaos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621024"/>
            <a:ext cx="235915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25D3E8"/>
                </a:solidFill>
                <a:latin typeface="Aptos"/>
              </a:rPr>
              <a:t>Future connector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15984" y="2999232"/>
            <a:ext cx="2578608" cy="1170432"/>
          </a:xfrm>
          <a:prstGeom prst="roundRect">
            <a:avLst/>
          </a:prstGeom>
          <a:solidFill>
            <a:srgbClr val="12233A"/>
          </a:solidFill>
          <a:ln>
            <a:solidFill>
              <a:srgbClr val="7C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25711" y="3255264"/>
            <a:ext cx="235915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LitmusChaos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1" y="3621024"/>
            <a:ext cx="235915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7C5CDC"/>
                </a:solidFill>
                <a:latin typeface="Aptos"/>
              </a:rPr>
              <a:t>Future connector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498848"/>
            <a:ext cx="3200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COMMON RESILIENCE WORKFLOW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828032"/>
            <a:ext cx="1993392" cy="914400"/>
          </a:xfrm>
          <a:prstGeom prst="roundRect">
            <a:avLst/>
          </a:prstGeom>
          <a:solidFill>
            <a:srgbClr val="162B46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" y="5001768"/>
            <a:ext cx="177393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76EF1"/>
                </a:solidFill>
                <a:latin typeface="Aptos"/>
              </a:rPr>
              <a:t>Inject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303520"/>
            <a:ext cx="177393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"/>
              </a:rPr>
              <a:t>controlled fault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24328" y="5285232"/>
            <a:ext cx="219456" cy="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898648" y="4828032"/>
            <a:ext cx="1993392" cy="914400"/>
          </a:xfrm>
          <a:prstGeom prst="roundRect">
            <a:avLst/>
          </a:prstGeom>
          <a:solidFill>
            <a:srgbClr val="162B46"/>
          </a:solidFill>
          <a:ln>
            <a:solidFill>
              <a:srgbClr val="20B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08376" y="5001768"/>
            <a:ext cx="177393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0B070"/>
                </a:solidFill>
                <a:latin typeface="Aptos"/>
              </a:rPr>
              <a:t>Execute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8376" y="5303520"/>
            <a:ext cx="177393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"/>
              </a:rPr>
              <a:t>ITAF / test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28616" y="5285232"/>
            <a:ext cx="219456" cy="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202936" y="4828032"/>
            <a:ext cx="1993392" cy="914400"/>
          </a:xfrm>
          <a:prstGeom prst="roundRect">
            <a:avLst/>
          </a:prstGeom>
          <a:solidFill>
            <a:srgbClr val="162B46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12664" y="5001768"/>
            <a:ext cx="177393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  <a:latin typeface="Aptos"/>
              </a:rPr>
              <a:t>Observe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12664" y="5303520"/>
            <a:ext cx="177393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"/>
              </a:rPr>
              <a:t>system behavior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232904" y="5285232"/>
            <a:ext cx="219456" cy="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507224" y="4828032"/>
            <a:ext cx="1993392" cy="914400"/>
          </a:xfrm>
          <a:prstGeom prst="roundRect">
            <a:avLst/>
          </a:prstGeom>
          <a:solidFill>
            <a:srgbClr val="162B46"/>
          </a:solidFill>
          <a:ln>
            <a:solidFill>
              <a:srgbClr val="2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16952" y="5001768"/>
            <a:ext cx="177393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5D3E8"/>
                </a:solidFill>
                <a:latin typeface="Aptos"/>
              </a:rPr>
              <a:t>Recover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6952" y="5303520"/>
            <a:ext cx="177393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"/>
              </a:rPr>
              <a:t>restore + validate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37192" y="5285232"/>
            <a:ext cx="219456" cy="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811512" y="4828032"/>
            <a:ext cx="1993392" cy="914400"/>
          </a:xfrm>
          <a:prstGeom prst="roundRect">
            <a:avLst/>
          </a:prstGeom>
          <a:solidFill>
            <a:srgbClr val="162B46"/>
          </a:solidFill>
          <a:ln>
            <a:solidFill>
              <a:srgbClr val="7C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21240" y="5001768"/>
            <a:ext cx="177393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7C5CDC"/>
                </a:solidFill>
                <a:latin typeface="Aptos"/>
              </a:rPr>
              <a:t>Analyze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5303520"/>
            <a:ext cx="177393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"/>
              </a:rPr>
              <a:t>AI resilience insight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989320"/>
            <a:ext cx="10972800" cy="502920"/>
          </a:xfrm>
          <a:prstGeom prst="roundRect">
            <a:avLst/>
          </a:prstGeom>
          <a:solidFill>
            <a:srgbClr val="16264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2" y="6117336"/>
            <a:ext cx="5943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5D3E8"/>
                </a:solidFill>
                <a:latin typeface="Aptos"/>
              </a:rPr>
              <a:t>VISION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81328" y="6080760"/>
            <a:ext cx="9646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AI selects the experiment • MCP standardizes execution • Connectors bring chaos to any target environment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8" y="146304"/>
            <a:ext cx="7510774" cy="5078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 dirty="0">
                <a:solidFill>
                  <a:srgbClr val="0D182A"/>
                </a:solidFill>
                <a:latin typeface="Aptos"/>
              </a:rPr>
              <a:t>The problem: </a:t>
            </a:r>
            <a:r>
              <a:rPr lang="en-US" sz="2700" b="1" dirty="0">
                <a:solidFill>
                  <a:srgbClr val="0D182A"/>
                </a:solidFill>
                <a:latin typeface="Aptos"/>
              </a:rPr>
              <a:t>H</a:t>
            </a:r>
            <a:r>
              <a:rPr sz="2700" b="1" dirty="0">
                <a:solidFill>
                  <a:srgbClr val="0D182A"/>
                </a:solidFill>
                <a:latin typeface="Aptos"/>
              </a:rPr>
              <a:t>appy-path testing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Resilience failures often appear only when a critical dependency misbehaves.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37560" cy="1874519"/>
          </a:xfrm>
          <a:prstGeom prst="roundRect">
            <a:avLst/>
          </a:prstGeom>
          <a:solidFill>
            <a:srgbClr val="E2F7E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1874519"/>
          </a:xfrm>
          <a:prstGeom prst="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64207"/>
            <a:ext cx="2971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NORMAL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29718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System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41448"/>
            <a:ext cx="2971800" cy="795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✓ Dependency available
✓ Expected response
✓ Functional path validated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1874519"/>
          </a:xfrm>
          <a:prstGeom prst="roundRect">
            <a:avLst/>
          </a:prstGeom>
          <a:solidFill>
            <a:srgbClr val="FDE8E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64008" cy="1874519"/>
          </a:xfrm>
          <a:prstGeom prst="rect">
            <a:avLst/>
          </a:prstGeom>
          <a:solidFill>
            <a:srgbClr val="E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664207"/>
            <a:ext cx="2971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REAL-WORLD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984248"/>
            <a:ext cx="29718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Dependency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441448"/>
            <a:ext cx="2971800" cy="795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1E293B"/>
                </a:solidFill>
                <a:latin typeface="Aptos"/>
              </a:rPr>
              <a:t>✕ 503 / 500
✕ Slow response
✕ Timeout / rate 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08760"/>
            <a:ext cx="3337560" cy="1874519"/>
          </a:xfrm>
          <a:prstGeom prst="roundRect">
            <a:avLst/>
          </a:prstGeom>
          <a:solidFill>
            <a:srgbClr val="E2E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64008" cy="1874519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1664207"/>
            <a:ext cx="2971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WHAT WE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1984248"/>
            <a:ext cx="29718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441448"/>
            <a:ext cx="2971800" cy="795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→ How does Checkout behave?
→ Does failure stay contained?
→ Does recovery work?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1280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ptos"/>
              </a:rPr>
              <a:t>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15968"/>
            <a:ext cx="106984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D182A"/>
                </a:solidFill>
                <a:latin typeface="Aptos"/>
              </a:rPr>
              <a:t>Traditional automation proves that the system works.
Resilience testing proves that the system can handle failure.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86400"/>
            <a:ext cx="1508760" cy="347472"/>
          </a:xfrm>
          <a:prstGeom prst="roundRect">
            <a:avLst/>
          </a:prstGeom>
          <a:solidFill>
            <a:srgbClr val="E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50468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Controlled failure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5486400"/>
            <a:ext cx="1508760" cy="347472"/>
          </a:xfrm>
          <a:prstGeom prst="round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23160" y="550468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Observed behavior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5486400"/>
            <a:ext cx="1508760" cy="347472"/>
          </a:xfrm>
          <a:prstGeom prst="round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0" y="550468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Recovery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0562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 dirty="0">
                <a:solidFill>
                  <a:srgbClr val="0D182A"/>
                </a:solidFill>
                <a:latin typeface="Aptos"/>
              </a:rPr>
              <a:t>Solution: an AI-controlled resilience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64748B"/>
                </a:solidFill>
                <a:latin typeface="Aptos"/>
              </a:rPr>
              <a:t>One MCP interface orchestrates fault injection, validation, recovery and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11680" cy="1143000"/>
          </a:xfrm>
          <a:prstGeom prst="roundRect">
            <a:avLst/>
          </a:prstGeom>
          <a:solidFill>
            <a:srgbClr val="E2E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4008" cy="11430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1645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035" y="2228483"/>
            <a:ext cx="17697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D182A"/>
                </a:solidFill>
                <a:latin typeface="Aptos"/>
              </a:rPr>
              <a:t>Natural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28800"/>
            <a:ext cx="201168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71800" y="1828800"/>
            <a:ext cx="64008" cy="1143000"/>
          </a:xfrm>
          <a:prstGeom prst="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72968" y="1984248"/>
            <a:ext cx="1645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MCP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0123" y="2253882"/>
            <a:ext cx="185550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D182A"/>
                </a:solidFill>
                <a:latin typeface="Aptos"/>
              </a:rPr>
              <a:t>Tools + Resources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1828800"/>
            <a:ext cx="201168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49240" y="1828800"/>
            <a:ext cx="64008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0407" y="1984248"/>
            <a:ext cx="1645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CHAOS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7977" y="2235595"/>
            <a:ext cx="112492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D182A"/>
                </a:solidFill>
                <a:latin typeface="Aptos"/>
              </a:rPr>
              <a:t>WireMock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828800"/>
            <a:ext cx="201168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26679" y="1828800"/>
            <a:ext cx="64008" cy="1143000"/>
          </a:xfrm>
          <a:prstGeom prst="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7848" y="1984248"/>
            <a:ext cx="1645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201385"/>
            <a:ext cx="181051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D182A"/>
                </a:solidFill>
                <a:latin typeface="Aptos"/>
              </a:rPr>
              <a:t>Checkout → Payment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828800"/>
            <a:ext cx="1463040" cy="1143000"/>
          </a:xfrm>
          <a:prstGeom prst="roundRect">
            <a:avLst/>
          </a:prstGeom>
          <a:solidFill>
            <a:srgbClr val="E2E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04120" y="1828800"/>
            <a:ext cx="64008" cy="1143000"/>
          </a:xfrm>
          <a:prstGeom prst="rect">
            <a:avLst/>
          </a:prstGeom>
          <a:solidFill>
            <a:srgbClr val="2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05288" y="1984248"/>
            <a:ext cx="10972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6197" y="2226451"/>
            <a:ext cx="121238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D182A"/>
                </a:solidFill>
                <a:latin typeface="Aptos"/>
              </a:rPr>
              <a:t>Dashboard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06040" y="2404872"/>
            <a:ext cx="36576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83480" y="2404872"/>
            <a:ext cx="36576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60920" y="2404872"/>
            <a:ext cx="365759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38360" y="2404872"/>
            <a:ext cx="36576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77240" y="4069080"/>
            <a:ext cx="1554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4069080"/>
            <a:ext cx="64008" cy="73152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" y="4224528"/>
            <a:ext cx="11887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350" y="4407069"/>
            <a:ext cx="99257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D182A"/>
                </a:solidFill>
                <a:latin typeface="Aptos"/>
              </a:rPr>
              <a:t>Baseline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31720" y="4434840"/>
            <a:ext cx="27432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606040" y="4069080"/>
            <a:ext cx="1554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06040" y="4069080"/>
            <a:ext cx="64008" cy="73152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07208" y="4224528"/>
            <a:ext cx="11887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9333" y="4405037"/>
            <a:ext cx="119276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D182A"/>
                </a:solidFill>
                <a:latin typeface="Aptos"/>
              </a:rPr>
              <a:t>Inject fault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60520" y="4434840"/>
            <a:ext cx="27432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434840" y="4069080"/>
            <a:ext cx="1554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434840" y="4069080"/>
            <a:ext cx="64008" cy="73152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36007" y="4224528"/>
            <a:ext cx="11887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9664" y="4434840"/>
            <a:ext cx="93006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D182A"/>
                </a:solidFill>
                <a:latin typeface="Aptos"/>
              </a:rPr>
              <a:t>Execute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89320" y="4434840"/>
            <a:ext cx="27432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263640" y="4069080"/>
            <a:ext cx="1554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63640" y="4069080"/>
            <a:ext cx="64008" cy="73152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64807" y="4224528"/>
            <a:ext cx="11887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3523" y="4416213"/>
            <a:ext cx="90896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D182A"/>
                </a:solidFill>
                <a:latin typeface="Aptos"/>
              </a:rPr>
              <a:t>Restore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18119" y="4434840"/>
            <a:ext cx="274321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092440" y="4069080"/>
            <a:ext cx="1554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92440" y="4069080"/>
            <a:ext cx="64008" cy="73152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93608" y="4224528"/>
            <a:ext cx="11887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7124" y="4434840"/>
            <a:ext cx="943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D182A"/>
                </a:solidFill>
                <a:latin typeface="Aptos"/>
              </a:rPr>
              <a:t>Recover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646919" y="4434840"/>
            <a:ext cx="274321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921240" y="4069080"/>
            <a:ext cx="1554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921240" y="4069080"/>
            <a:ext cx="64008" cy="73152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122408" y="4224528"/>
            <a:ext cx="118871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4120" y="4434840"/>
            <a:ext cx="91255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D182A"/>
                </a:solidFill>
                <a:latin typeface="Aptos"/>
              </a:rPr>
              <a:t>Analyze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34924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Key design principle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19" y="5687568"/>
            <a:ext cx="11071013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700" b="1" dirty="0">
                <a:solidFill>
                  <a:srgbClr val="0D182A"/>
                </a:solidFill>
                <a:latin typeface="Aptos"/>
              </a:rPr>
              <a:t>• </a:t>
            </a:r>
            <a:r>
              <a:rPr sz="1700" b="1" dirty="0">
                <a:solidFill>
                  <a:srgbClr val="0D182A"/>
                </a:solidFill>
                <a:latin typeface="Aptos"/>
              </a:rPr>
              <a:t>Tools act </a:t>
            </a:r>
            <a:r>
              <a:rPr lang="en-US" sz="1700" b="1" dirty="0">
                <a:solidFill>
                  <a:srgbClr val="0D182A"/>
                </a:solidFill>
                <a:latin typeface="Aptos"/>
              </a:rPr>
              <a:t>	</a:t>
            </a:r>
            <a:r>
              <a:rPr sz="1700" b="1" dirty="0">
                <a:solidFill>
                  <a:srgbClr val="0D182A"/>
                </a:solidFill>
                <a:latin typeface="Aptos"/>
              </a:rPr>
              <a:t>• Resources inform </a:t>
            </a:r>
            <a:r>
              <a:rPr lang="en-US" sz="1700" b="1" dirty="0">
                <a:solidFill>
                  <a:srgbClr val="0D182A"/>
                </a:solidFill>
                <a:latin typeface="Aptos"/>
              </a:rPr>
              <a:t>		</a:t>
            </a:r>
            <a:r>
              <a:rPr sz="1700" b="1" dirty="0">
                <a:solidFill>
                  <a:srgbClr val="0D182A"/>
                </a:solidFill>
                <a:latin typeface="Aptos"/>
              </a:rPr>
              <a:t>• Prompts guide </a:t>
            </a:r>
            <a:r>
              <a:rPr lang="en-US" sz="1700" b="1" dirty="0">
                <a:solidFill>
                  <a:srgbClr val="0D182A"/>
                </a:solidFill>
                <a:latin typeface="Aptos"/>
              </a:rPr>
              <a:t>		</a:t>
            </a:r>
            <a:r>
              <a:rPr sz="1700" b="1" dirty="0">
                <a:solidFill>
                  <a:srgbClr val="0D182A"/>
                </a:solidFill>
                <a:latin typeface="Aptos"/>
              </a:rPr>
              <a:t>• Dashboard visualizes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D182A"/>
                </a:solidFill>
                <a:latin typeface="Aptos"/>
              </a:rPr>
              <a:t>Live experiment: Payment HTTP 503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agent turns a natural-language request into a controlled end-to-end resilience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9319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822960"/>
          </a:xfrm>
          <a:prstGeom prst="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64207"/>
            <a:ext cx="3566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4248" y="1712977"/>
            <a:ext cx="35661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 dirty="0">
                <a:solidFill>
                  <a:srgbClr val="0D182A"/>
                </a:solidFill>
                <a:latin typeface="Aptos"/>
              </a:rPr>
              <a:t>200 OK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2331720"/>
            <a:ext cx="0" cy="22860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560320"/>
            <a:ext cx="39319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64008" cy="822960"/>
          </a:xfrm>
          <a:prstGeom prst="rect">
            <a:avLst/>
          </a:prstGeom>
          <a:solidFill>
            <a:srgbClr val="E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715768"/>
            <a:ext cx="3566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CHAOS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2898648"/>
            <a:ext cx="35661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 dirty="0">
                <a:solidFill>
                  <a:srgbClr val="0D182A"/>
                </a:solidFill>
                <a:latin typeface="Aptos"/>
              </a:rPr>
              <a:t>503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3383279"/>
            <a:ext cx="0" cy="22860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611879"/>
            <a:ext cx="39319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611879"/>
            <a:ext cx="64008" cy="82296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67328"/>
            <a:ext cx="3566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3060" y="3878579"/>
            <a:ext cx="35661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 dirty="0">
                <a:solidFill>
                  <a:srgbClr val="0D182A"/>
                </a:solidFill>
                <a:latin typeface="Aptos"/>
              </a:rPr>
              <a:t>Mapping removed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4434840"/>
            <a:ext cx="0" cy="22860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4663440"/>
            <a:ext cx="39319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64008" cy="822960"/>
          </a:xfrm>
          <a:prstGeom prst="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818888"/>
            <a:ext cx="35661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9621" y="4933188"/>
            <a:ext cx="35661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 dirty="0">
                <a:solidFill>
                  <a:srgbClr val="0D182A"/>
                </a:solidFill>
                <a:latin typeface="Aptos"/>
              </a:rPr>
              <a:t>200 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150876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D182A"/>
                </a:solidFill>
                <a:latin typeface="Aptos"/>
              </a:rPr>
              <a:t>Observed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1965960"/>
            <a:ext cx="2880360" cy="1005840"/>
          </a:xfrm>
          <a:prstGeom prst="roundRect">
            <a:avLst/>
          </a:prstGeom>
          <a:solidFill>
            <a:srgbClr val="FDE8E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57800" y="1965960"/>
            <a:ext cx="64008" cy="1005840"/>
          </a:xfrm>
          <a:prstGeom prst="rect">
            <a:avLst/>
          </a:prstGeom>
          <a:solidFill>
            <a:srgbClr val="E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58968" y="2121408"/>
            <a:ext cx="2514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FAILURE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2313433"/>
            <a:ext cx="2514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 dirty="0">
                <a:solidFill>
                  <a:srgbClr val="0D182A"/>
                </a:solidFill>
                <a:latin typeface="Aptos"/>
              </a:rPr>
              <a:t>HTTP 503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2715768"/>
            <a:ext cx="2514600" cy="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1E293B"/>
                </a:solidFill>
                <a:latin typeface="Aptos"/>
              </a:rPr>
              <a:t>Checkout surfaced dependency failure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1965960"/>
            <a:ext cx="2880360" cy="1005840"/>
          </a:xfrm>
          <a:prstGeom prst="roundRect">
            <a:avLst/>
          </a:prstGeom>
          <a:solidFill>
            <a:srgbClr val="E2F7E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66760" y="1965960"/>
            <a:ext cx="64008" cy="1005840"/>
          </a:xfrm>
          <a:prstGeom prst="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67928" y="2121408"/>
            <a:ext cx="2514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2307336"/>
            <a:ext cx="2514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 dirty="0">
                <a:solidFill>
                  <a:srgbClr val="0D182A"/>
                </a:solidFill>
                <a:latin typeface="Aptos"/>
              </a:rPr>
              <a:t>HTTP 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2697819"/>
            <a:ext cx="2514600" cy="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1E293B"/>
                </a:solidFill>
                <a:latin typeface="Aptos"/>
              </a:rPr>
              <a:t>Checkout recovered after restore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3200400"/>
            <a:ext cx="5989320" cy="1143000"/>
          </a:xfrm>
          <a:prstGeom prst="roundRect">
            <a:avLst/>
          </a:prstGeom>
          <a:solidFill>
            <a:srgbClr val="FFF4D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257800" y="3200400"/>
            <a:ext cx="64008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58968" y="3355848"/>
            <a:ext cx="562355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RESILIENCE FINDING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8968" y="3703320"/>
            <a:ext cx="5623559" cy="4846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Checkout did not mask the Payment outage; no fallback was evidenced in the experiment.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4709160"/>
            <a:ext cx="3108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This is the important shift: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3905" y="5227796"/>
            <a:ext cx="5295392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dirty="0">
                <a:solidFill>
                  <a:srgbClr val="0D182A"/>
                </a:solidFill>
                <a:latin typeface="Aptos"/>
              </a:rPr>
              <a:t>The agent reports behavior from evidence — not just pass/fail.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 dirty="0">
                <a:solidFill>
                  <a:srgbClr val="FFFFFF"/>
                </a:solidFill>
                <a:latin typeface="Aptos"/>
              </a:rPr>
              <a:t>MCP CAPABILITIES COVERED IN THE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The PoC demonstrates the complete MCP interaction model — not just tool calling.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246120" cy="3886200"/>
          </a:xfrm>
          <a:prstGeom prst="roundRect">
            <a:avLst/>
          </a:prstGeom>
          <a:solidFill>
            <a:srgbClr val="E2E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3246120" cy="73152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755648"/>
            <a:ext cx="2103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276EF1"/>
                </a:solidFill>
                <a:latin typeface="Aptos"/>
              </a:rPr>
              <a:t>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79" y="1719072"/>
            <a:ext cx="685800" cy="347472"/>
          </a:xfrm>
          <a:prstGeom prst="round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79" y="173736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40280"/>
            <a:ext cx="2788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D182A"/>
                </a:solidFill>
                <a:latin typeface="Aptos"/>
              </a:rPr>
              <a:t>Execute resilience actions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109728" cy="109728"/>
          </a:xfrm>
          <a:prstGeom prst="ellipse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285292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run_resilience_experiment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520440"/>
            <a:ext cx="109728" cy="109728"/>
          </a:xfrm>
          <a:prstGeom prst="ellipse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344728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inject_http_503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114800"/>
            <a:ext cx="109728" cy="109728"/>
          </a:xfrm>
          <a:prstGeom prst="ellipse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404164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inject_latency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09160"/>
            <a:ext cx="109728" cy="109728"/>
          </a:xfrm>
          <a:prstGeom prst="ellipse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463600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restore_dependency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7368" y="1508760"/>
            <a:ext cx="3246120" cy="3886200"/>
          </a:xfrm>
          <a:prstGeom prst="roundRect">
            <a:avLst/>
          </a:prstGeom>
          <a:solidFill>
            <a:srgbClr val="E2F7E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87368" y="1508760"/>
            <a:ext cx="3246120" cy="73152"/>
          </a:xfrm>
          <a:prstGeom prst="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88536" y="1755648"/>
            <a:ext cx="2103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20B070"/>
                </a:solidFill>
                <a:latin typeface="Aptos"/>
              </a:rPr>
              <a:t>RESOURCES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19088" y="1719072"/>
            <a:ext cx="685800" cy="347472"/>
          </a:xfrm>
          <a:prstGeom prst="round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173736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8536" y="2240280"/>
            <a:ext cx="2788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D182A"/>
                </a:solidFill>
                <a:latin typeface="Aptos"/>
              </a:rPr>
              <a:t>Provide live resilience context</a:t>
            </a:r>
          </a:p>
        </p:txBody>
      </p:sp>
      <p:sp>
        <p:nvSpPr>
          <p:cNvPr id="25" name="Oval 24"/>
          <p:cNvSpPr/>
          <p:nvPr/>
        </p:nvSpPr>
        <p:spPr>
          <a:xfrm>
            <a:off x="4315968" y="2926080"/>
            <a:ext cx="109728" cy="109728"/>
          </a:xfrm>
          <a:prstGeom prst="ellipse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79" y="285292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resilience://topology</a:t>
            </a:r>
          </a:p>
        </p:txBody>
      </p:sp>
      <p:sp>
        <p:nvSpPr>
          <p:cNvPr id="27" name="Oval 26"/>
          <p:cNvSpPr/>
          <p:nvPr/>
        </p:nvSpPr>
        <p:spPr>
          <a:xfrm>
            <a:off x="4315968" y="3520440"/>
            <a:ext cx="109728" cy="109728"/>
          </a:xfrm>
          <a:prstGeom prst="ellipse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79" y="344728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resilience://chaos/status</a:t>
            </a:r>
          </a:p>
        </p:txBody>
      </p:sp>
      <p:sp>
        <p:nvSpPr>
          <p:cNvPr id="29" name="Oval 28"/>
          <p:cNvSpPr/>
          <p:nvPr/>
        </p:nvSpPr>
        <p:spPr>
          <a:xfrm>
            <a:off x="4315968" y="4114800"/>
            <a:ext cx="109728" cy="109728"/>
          </a:xfrm>
          <a:prstGeom prst="ellipse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79" y="404164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resilience://experiments/latest</a:t>
            </a:r>
          </a:p>
        </p:txBody>
      </p:sp>
      <p:sp>
        <p:nvSpPr>
          <p:cNvPr id="31" name="Oval 30"/>
          <p:cNvSpPr/>
          <p:nvPr/>
        </p:nvSpPr>
        <p:spPr>
          <a:xfrm>
            <a:off x="4315968" y="4709160"/>
            <a:ext cx="109728" cy="109728"/>
          </a:xfrm>
          <a:prstGeom prst="ellipse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6279" y="463600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resilience://dashboard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0375" y="1508760"/>
            <a:ext cx="3246120" cy="3886200"/>
          </a:xfrm>
          <a:prstGeom prst="roundRect">
            <a:avLst/>
          </a:prstGeom>
          <a:solidFill>
            <a:srgbClr val="EFEA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580375" y="1508760"/>
            <a:ext cx="3246120" cy="73152"/>
          </a:xfrm>
          <a:prstGeom prst="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81544" y="1755648"/>
            <a:ext cx="2103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7C5CDC"/>
                </a:solidFill>
                <a:latin typeface="Aptos"/>
              </a:rPr>
              <a:t>PROMPTS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12096" y="1719072"/>
            <a:ext cx="685800" cy="347472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12096" y="173736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REASON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81544" y="2240280"/>
            <a:ext cx="2788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D182A"/>
                </a:solidFill>
                <a:latin typeface="Aptos"/>
              </a:rPr>
              <a:t>Guide consistent AI analysis</a:t>
            </a:r>
          </a:p>
        </p:txBody>
      </p:sp>
      <p:sp>
        <p:nvSpPr>
          <p:cNvPr id="39" name="Oval 38"/>
          <p:cNvSpPr/>
          <p:nvPr/>
        </p:nvSpPr>
        <p:spPr>
          <a:xfrm>
            <a:off x="7808975" y="2926080"/>
            <a:ext cx="109728" cy="109728"/>
          </a:xfrm>
          <a:prstGeom prst="ellipse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19288" y="285292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resilience_analysis</a:t>
            </a:r>
          </a:p>
        </p:txBody>
      </p:sp>
      <p:sp>
        <p:nvSpPr>
          <p:cNvPr id="41" name="Oval 40"/>
          <p:cNvSpPr/>
          <p:nvPr/>
        </p:nvSpPr>
        <p:spPr>
          <a:xfrm>
            <a:off x="7808975" y="3520440"/>
            <a:ext cx="109728" cy="109728"/>
          </a:xfrm>
          <a:prstGeom prst="ellipse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19288" y="344728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Baseline vs. failure behavior</a:t>
            </a:r>
          </a:p>
        </p:txBody>
      </p:sp>
      <p:sp>
        <p:nvSpPr>
          <p:cNvPr id="43" name="Oval 42"/>
          <p:cNvSpPr/>
          <p:nvPr/>
        </p:nvSpPr>
        <p:spPr>
          <a:xfrm>
            <a:off x="7808975" y="4114800"/>
            <a:ext cx="109728" cy="109728"/>
          </a:xfrm>
          <a:prstGeom prst="ellipse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19288" y="404164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Recovery &amp; resilience gaps</a:t>
            </a:r>
          </a:p>
        </p:txBody>
      </p:sp>
      <p:sp>
        <p:nvSpPr>
          <p:cNvPr id="45" name="Oval 44"/>
          <p:cNvSpPr/>
          <p:nvPr/>
        </p:nvSpPr>
        <p:spPr>
          <a:xfrm>
            <a:off x="7808975" y="4709160"/>
            <a:ext cx="109728" cy="109728"/>
          </a:xfrm>
          <a:prstGeom prst="ellipse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19288" y="4636008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Evidence-based assessment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3840480" y="3246120"/>
            <a:ext cx="22860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333488" y="3246120"/>
            <a:ext cx="22860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94360" y="5650992"/>
            <a:ext cx="10972800" cy="713232"/>
          </a:xfrm>
          <a:prstGeom prst="roundRect">
            <a:avLst/>
          </a:prstGeom>
          <a:solidFill>
            <a:srgbClr val="16264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8680" y="5797296"/>
            <a:ext cx="685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76EF1"/>
                </a:solidFill>
                <a:latin typeface="Aptos"/>
              </a:rPr>
              <a:t>TOOLS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81328" y="5797296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47088" y="5797296"/>
            <a:ext cx="182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03120" y="5797296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0B070"/>
                </a:solidFill>
                <a:latin typeface="Aptos"/>
              </a:rPr>
              <a:t>RESOURCES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71800" y="5797296"/>
            <a:ext cx="5943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39312" y="5797296"/>
            <a:ext cx="182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86200" y="5797296"/>
            <a:ext cx="777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7C5CDC"/>
                </a:solidFill>
                <a:latin typeface="Aptos"/>
              </a:rPr>
              <a:t>PROMPTS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45152" y="5797296"/>
            <a:ext cx="10515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guide reasoning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3872" y="5769864"/>
            <a:ext cx="274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9632" y="5742432"/>
            <a:ext cx="448056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AI-driven resilience assessment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D182A"/>
                </a:solidFill>
                <a:latin typeface="Aptos"/>
              </a:rPr>
              <a:t>What the AI can conclude from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experiment result becomes structured context for reasoning.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29000" cy="3429000"/>
          </a:xfrm>
          <a:prstGeom prst="roundRect">
            <a:avLst/>
          </a:prstGeom>
          <a:solidFill>
            <a:srgbClr val="FDE8E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64008" cy="3429000"/>
          </a:xfrm>
          <a:prstGeom prst="rect">
            <a:avLst/>
          </a:prstGeom>
          <a:solidFill>
            <a:srgbClr val="E1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55648"/>
            <a:ext cx="3063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FAILURE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03120"/>
            <a:ext cx="3063240" cy="27706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Dependency failure observed
Checkout returned HTTP 503
Failure surfaced promptly
No fallback behavior evidenced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3429000"/>
          </a:xfrm>
          <a:prstGeom prst="roundRect">
            <a:avLst/>
          </a:prstGeom>
          <a:solidFill>
            <a:srgbClr val="E2F7E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64008" cy="3429000"/>
          </a:xfrm>
          <a:prstGeom prst="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755648"/>
            <a:ext cx="3063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03120"/>
            <a:ext cx="3063240" cy="27706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Payment fault restored
Checkout returned HTTP 200
Automated recovery validation passed
Recovery path is measurable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429000" cy="3429000"/>
          </a:xfrm>
          <a:prstGeom prst="roundRect">
            <a:avLst/>
          </a:prstGeom>
          <a:solidFill>
            <a:srgbClr val="FFF4D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600200"/>
            <a:ext cx="64008" cy="3429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755648"/>
            <a:ext cx="3063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RESILIENCE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103120"/>
            <a:ext cx="3063240" cy="27706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Payment outage propagates to Checkout
No graceful fallback evidenced
Next: latency / timeout / circuit breaker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40680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AI reasoning 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376672"/>
            <a:ext cx="1097280" cy="347472"/>
          </a:xfrm>
          <a:prstGeom prst="round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0" y="5394959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Topology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5376672"/>
            <a:ext cx="1234440" cy="347472"/>
          </a:xfrm>
          <a:prstGeom prst="roundRect">
            <a:avLst/>
          </a:prstGeom>
          <a:solidFill>
            <a:srgbClr val="7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40" y="5394959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Chaos state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5376672"/>
            <a:ext cx="1600200" cy="347472"/>
          </a:xfrm>
          <a:prstGeom prst="roundRect">
            <a:avLst/>
          </a:prstGeom>
          <a:solidFill>
            <a:srgbClr val="20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5394959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Experiment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376672"/>
            <a:ext cx="1463040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5394959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Analysis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1185</Words>
  <Application>Microsoft Office PowerPoint</Application>
  <PresentationFormat>Widescreen</PresentationFormat>
  <Paragraphs>322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Somashekhar S</dc:creator>
  <cp:keywords/>
  <dc:description>generated using python-pptx</dc:description>
  <cp:lastModifiedBy>Somashekhar</cp:lastModifiedBy>
  <cp:revision>5</cp:revision>
  <dcterms:created xsi:type="dcterms:W3CDTF">2013-01-27T09:14:16Z</dcterms:created>
  <dcterms:modified xsi:type="dcterms:W3CDTF">2026-09-28T13:19:05Z</dcterms:modified>
  <cp:category/>
</cp:coreProperties>
</file>